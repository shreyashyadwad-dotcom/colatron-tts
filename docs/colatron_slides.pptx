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bceec9-c907-a4df-d1bf-875bb18e5e0c}">
          <p14:sldIdLst>
            <p14:sldId id="256"/>
            <p14:sldId id="257"/>
          </p14:sldIdLst>
        </p14:section>
        <p14:section name="Reproduction" id="{b938abf2-096f-5777-3ca4-4faa87ffc583}">
          <p14:sldIdLst>
            <p14:sldId id="258"/>
            <p14:sldId id="259"/>
            <p14:sldId id="260"/>
            <p14:sldId id="261"/>
          </p14:sldIdLst>
        </p14:section>
        <p14:section name="Results" id="{7f54bcf0-91c6-fb8c-e15e-82a39519a860}">
          <p14:sldIdLst>
            <p14:sldId id="262"/>
          </p14:sldIdLst>
        </p14:section>
        <p14:section name="Extension" id="{e501db92-3b80-5618-097a-e477179af04a}">
          <p14:sldIdLst>
            <p14:sldId id="263"/>
            <p14:sldId id="264"/>
          </p14:sldIdLst>
        </p14:section>
        <p14:section name="Conclusions" id="{06f58bae-8ede-18e5-4aac-6d9b46bea391}">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Colatron: we reproduce the three models of Wang, Yang &amp; Li's CS229 project (2018) and extend it with DCTTS. Team 23 — Shriram Chandrasekar and Shreyash Yadwad.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map text straight to a waveform. Part 1 reproduces the three models; Part 2 adds DCTTS, a model the paper did not use, aimed at its main failure mode. Everything ran on CPU with seed 42 and time-boxed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pipeline: CMU phoneme/letter mapping, pre-emphasis and a 1025-bin STFT, one of three models, and Griffin-Lim to get audio. Human MOS ranks SVR 1.0 &lt; NN 1.7 &lt; Seq2Seq 2.5. Its key failure: seq2seq repeats words because attention drifts — that motivates our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200/25/25 split with seed 42, clips limited to 1.5–5 s so padding fits on CPU — the paper never says which 200 sentences it used. Audio parameters are copied from the authors' released code, and every model shares the same Griffin-Lim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SVR: one regressor per frame on PCA-compressed spectra. NN: exactly the authors' MLP. Seq2Seq: BiLSTM encoder, LSTM decoder, Bahdanau attention, latent cut to 256 for CPU. The loss plot shows all runs converging inside their time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run a full MOS study, so UTMOS — a neural MOS predictor — stands in, and a small human test is reported only if collected. Note the references: real audio scores 4.34, but passing it through Griffin-Lim drops it to 3.01, so that's the ceiling for every model here. CER/WER from Whisper directly measures repeated or missing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objective metrics on the 25 test clips. Absolute UTMOS values are low for every model — remember the Griffin-Lim ceiling is 3.01 — but the ordering SVR &lt; NN &lt; Seq2Seq matches the paper's human MOS. DCTTS, highlighted, lands between NN and Seq2Seq on UTMOS.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DCTTS has two convolutional networks: Text2Mel predicts a mel spectrogram, SSRN expands it to the full 1025-bin spectrum. The guided-attention loss penalises attention far from the diagonal, which is exactly the failure the paper reports. It also trains much faster than an RNN on CPU. Same data, split and metrics as the reproduction.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figure. Left: seq2seq attention is a set of horizontal bands — each decoder frame looks at the same mixture of symbols, so it never walks through the text; that's the mechanism behind repeated words. Right: DCTTS with guided attention moves monotonically through the symbols. The mechanism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blue is UTMOS (higher is better), red is CER (lower is better). Seq2Seq has the best UTMOS. Paired test against Seq2Seq: DCTTS UTMOS is significantly lower (p = 0.0125) and CER is statistically the same (p = 0.3945). The spectrograms show why absolute scores are low — none of the models recovers the harmonic structure of the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One: our automated proxy reproduces the paper's ranking. Two: DCTTS fixes the alignment mechanism, but on 200 clips and a CPU budget it doesn't sound better — UTMOS is significantly lower and CER is tied. Three: our numbers differ from the paper for four stated reasons. The takeaway matches the paper's own conclusion: data is the binding constraint. Next steps: more data, a neural vocoder like HiFi-GAN, full-size models on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run the demo live: one command synthesises a sentence with all four models in under a minute on CPU. Everything in the deck regenerates from python main.py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6400800" cy="228600"/>
          </a:xfrm>
          <a:prstGeom prst="rect">
            <a:avLst/>
          </a:prstGeom>
          <a:noFill/>
          <a:ln/>
        </p:spPr>
        <p:txBody>
          <a:bodyPr wrap="square" lIns="0" tIns="0" rIns="0" bIns="0" rtlCol="0" anchor="ctr"/>
          <a:lstStyle/>
          <a:p>
            <a:pPr indent="0" marL="0">
              <a:buNone/>
            </a:pPr>
            <a:r>
              <a:rPr lang="en-US" sz="900" dirty="0">
                <a:solidFill>
                  <a:schemeClr val="accent5"/>
                </a:solidFill>
              </a:rPr>
              <a:t>Colatron  ·  Team 23  ·  UE24CS352A Mini-Project #20</a:t>
            </a:r>
            <a:endParaRPr lang="en-US" sz="900" dirty="0"/>
          </a:p>
        </p:txBody>
      </p:sp>
      <p:sp>
        <p:nvSpPr>
          <p:cNvPr id="3" name="Text 1"/>
          <p:cNvSpPr/>
          <p:nvPr>
            <p:ph idx="101" type="title" hasCustomPrompt="1"/>
          </p:nvPr>
        </p:nvSpPr>
        <p:spPr>
          <a:xfrm>
            <a:off x="457200" y="256032"/>
            <a:ext cx="8229600" cy="566928"/>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spectrogram" descr="Ground-truth spectrogram of LJ Speech clip LJ001-0083">    </p:cNvPr>
          <p:cNvPicPr>
            <a:picLocks noChangeAspect="1"/>
          </p:cNvPicPr>
          <p:nvPr/>
        </p:nvPicPr>
        <p:blipFill>
          <a:blip r:embed="rId1">
            <a:alphaModFix amt="65000"/>
          </a:blip>
          <a:stretch>
            <a:fillRect/>
          </a:stretch>
        </p:blipFill>
        <p:spPr>
          <a:xfrm>
            <a:off x="0" y="3611880"/>
            <a:ext cx="9144000" cy="1531620"/>
          </a:xfrm>
          <a:prstGeom prst="rect">
            <a:avLst/>
          </a:prstGeom>
        </p:spPr>
      </p:pic>
      <p:sp>
        <p:nvSpPr>
          <p:cNvPr id="3" name="kicker-1"/>
          <p:cNvSpPr txBox="1"/>
          <p:nvPr/>
        </p:nvSpPr>
        <p:spPr>
          <a:xfrm>
            <a:off x="548640" y="502920"/>
            <a:ext cx="80467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UE24CS352A  ·  MACHINE LEARNING  ·  MINI-PROJECT #20</a:t>
            </a:r>
            <a:endParaRPr lang="en-US" sz="1200" dirty="0"/>
          </a:p>
        </p:txBody>
      </p:sp>
      <p:sp>
        <p:nvSpPr>
          <p:cNvPr id="4" name="deck-title-2"/>
          <p:cNvSpPr txBox="1"/>
          <p:nvPr/>
        </p:nvSpPr>
        <p:spPr>
          <a:xfrm>
            <a:off x="548640" y="868680"/>
            <a:ext cx="8046720" cy="77724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Colatron</a:t>
            </a:r>
            <a:endParaRPr lang="en-US" sz="4800" dirty="0"/>
          </a:p>
        </p:txBody>
      </p:sp>
      <p:sp>
        <p:nvSpPr>
          <p:cNvPr id="5" name="deck-subtitle-3"/>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Reproducing &amp; Extending End-to-End Text-to-Speech</a:t>
            </a:r>
            <a:endParaRPr lang="en-US" sz="2200" dirty="0"/>
          </a:p>
        </p:txBody>
      </p:sp>
      <p:sp>
        <p:nvSpPr>
          <p:cNvPr id="6" name="authors-4"/>
          <p:cNvSpPr txBox="1"/>
          <p:nvPr/>
        </p:nvSpPr>
        <p:spPr>
          <a:xfrm>
            <a:off x="548640" y="2331720"/>
            <a:ext cx="8046720" cy="548640"/>
          </a:xfrm>
          <a:prstGeom prst="rect">
            <a:avLst/>
          </a:prstGeom>
          <a:noFill/>
          <a:ln/>
        </p:spPr>
        <p:txBody>
          <a:bodyPr wrap="square" lIns="0" tIns="0" rIns="0" bIns="0" rtlCol="0" anchor="t"/>
          <a:lstStyle/>
          <a:p>
            <a:pPr indent="0" marL="0">
              <a:buNone/>
            </a:pPr>
            <a:r>
              <a:rPr lang="en-US" sz="1400" b="1" dirty="0">
                <a:solidFill>
                  <a:schemeClr val="bg1"/>
                </a:solidFill>
              </a:rPr>
              <a:t>Team 23  ·  PES University, Section H</a:t>
            </a:r>
            <a:endParaRPr lang="en-US" sz="1400" dirty="0"/>
          </a:p>
          <a:p>
            <a:pPr indent="0" marL="0">
              <a:buNone/>
            </a:pPr>
            <a:r>
              <a:rPr lang="en-US" sz="1400" dirty="0">
                <a:solidFill>
                  <a:schemeClr val="bg1"/>
                </a:solidFill>
              </a:rPr>
              <a:t>Shriram Chandrasekar (PES2UG24CS495)   ·   Shreyash Yadwad (PES2UG24CS493)</a:t>
            </a:r>
            <a:endParaRPr lang="en-US" sz="1400" dirty="0"/>
          </a:p>
        </p:txBody>
      </p:sp>
      <p:sp>
        <p:nvSpPr>
          <p:cNvPr id="7" name="citation-5"/>
          <p:cNvSpPr txBox="1"/>
          <p:nvPr/>
        </p:nvSpPr>
        <p:spPr>
          <a:xfrm>
            <a:off x="548640" y="3017520"/>
            <a:ext cx="8046720" cy="274320"/>
          </a:xfrm>
          <a:prstGeom prst="rect">
            <a:avLst/>
          </a:prstGeom>
          <a:noFill/>
          <a:ln/>
        </p:spPr>
        <p:txBody>
          <a:bodyPr wrap="square" lIns="0" tIns="0" rIns="0" bIns="0" rtlCol="0" anchor="t"/>
          <a:lstStyle/>
          <a:p>
            <a:pPr indent="0" marL="0">
              <a:buNone/>
            </a:pPr>
            <a:r>
              <a:rPr lang="en-US" sz="1100" i="1" dirty="0">
                <a:solidFill>
                  <a:schemeClr val="bg2"/>
                </a:solidFill>
              </a:rPr>
              <a:t>Reference: Wang, Yang &amp; Li, “End-to-End Text to Speech Synthesis”, CS229 Project Report, Stanford, Autumn 2018</a:t>
            </a:r>
            <a:endParaRPr lang="en-US" sz="1100" dirty="0"/>
          </a:p>
        </p:txBody>
      </p:sp>
      <p:sp>
        <p:nvSpPr>
          <p:cNvPr id="9"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Text in, waveform out — no hand-built front-end</a:t>
            </a:r>
            <a:endParaRPr lang="en-US" sz="2800" dirty="0"/>
          </a:p>
        </p:txBody>
      </p:sp>
      <p:sp>
        <p:nvSpPr>
          <p:cNvPr id="3" name="card-6"/>
          <p:cNvSpPr/>
          <p:nvPr/>
        </p:nvSpPr>
        <p:spPr>
          <a:xfrm>
            <a:off x="457200" y="1051560"/>
            <a:ext cx="3977640" cy="2240280"/>
          </a:xfrm>
          <a:prstGeom prst="roundRect">
            <a:avLst>
              <a:gd name="adj" fmla="val 3265"/>
            </a:avLst>
          </a:prstGeom>
          <a:solidFill>
            <a:schemeClr val="bg2"/>
          </a:solidFill>
          <a:ln/>
        </p:spPr>
      </p:sp>
      <p:sp>
        <p:nvSpPr>
          <p:cNvPr id="4" name="badge-7"/>
          <p:cNvSpPr/>
          <p:nvPr/>
        </p:nvSpPr>
        <p:spPr>
          <a:xfrm>
            <a:off x="685800" y="1280160"/>
            <a:ext cx="384048" cy="384048"/>
          </a:xfrm>
          <a:prstGeom prst="ellipse">
            <a:avLst/>
          </a:prstGeom>
          <a:solidFill>
            <a:schemeClr val="accent3"/>
          </a:solidFill>
          <a:ln/>
        </p:spPr>
      </p:sp>
      <p:sp>
        <p:nvSpPr>
          <p:cNvPr id="5" name="badge-label-8"/>
          <p:cNvSpPr txBox="1"/>
          <p:nvPr/>
        </p:nvSpPr>
        <p:spPr>
          <a:xfrm>
            <a:off x="6858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ard-head-9"/>
          <p:cNvSpPr txBox="1"/>
          <p:nvPr/>
        </p:nvSpPr>
        <p:spPr>
          <a:xfrm>
            <a:off x="1188720" y="1280160"/>
            <a:ext cx="3063240" cy="384048"/>
          </a:xfrm>
          <a:prstGeom prst="rect">
            <a:avLst/>
          </a:prstGeom>
          <a:noFill/>
          <a:ln/>
        </p:spPr>
        <p:txBody>
          <a:bodyPr wrap="square" lIns="0" tIns="0" rIns="0" bIns="0" rtlCol="0" anchor="ctr"/>
          <a:lstStyle/>
          <a:p>
            <a:pPr indent="0" marL="0">
              <a:buNone/>
            </a:pPr>
            <a:r>
              <a:rPr lang="en-US" sz="1800" b="1" dirty="0">
                <a:solidFill>
                  <a:schemeClr val="tx1"/>
                </a:solidFill>
              </a:rPr>
              <a:t>Part 1 — Reproduce</a:t>
            </a:r>
            <a:endParaRPr lang="en-US" sz="1800" dirty="0"/>
          </a:p>
        </p:txBody>
      </p:sp>
      <p:sp>
        <p:nvSpPr>
          <p:cNvPr id="7" name="card-body-10"/>
          <p:cNvSpPr txBox="1"/>
          <p:nvPr/>
        </p:nvSpPr>
        <p:spPr>
          <a:xfrm>
            <a:off x="685800" y="1828800"/>
            <a:ext cx="3520440" cy="13258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The paper’s three models: per-timestep SVR, flattened-output MLP, LSTM seq2seq with attention</a:t>
            </a:r>
            <a:endParaRPr lang="en-US" sz="1400" dirty="0"/>
          </a:p>
          <a:p>
            <a:pPr marL="177800" indent="-177800">
              <a:spcAft>
                <a:spcPts val="500"/>
              </a:spcAft>
              <a:buSzPct val="100000"/>
              <a:buChar char="•"/>
            </a:pPr>
            <a:r>
              <a:rPr lang="en-US" sz="1300" dirty="0">
                <a:solidFill>
                  <a:schemeClr val="tx1"/>
                </a:solidFill>
              </a:rPr>
              <a:t>Same data, preprocessing and Griffin-Lim vocoding</a:t>
            </a:r>
            <a:endParaRPr lang="en-US" sz="1400" dirty="0"/>
          </a:p>
          <a:p>
            <a:pPr marL="177800" indent="-177800">
              <a:spcAft>
                <a:spcPts val="500"/>
              </a:spcAft>
              <a:buSzPct val="100000"/>
              <a:buChar char="•"/>
            </a:pPr>
            <a:r>
              <a:rPr lang="en-US" sz="1300" dirty="0">
                <a:solidFill>
                  <a:schemeClr val="tx1"/>
                </a:solidFill>
              </a:rPr>
              <a:t>Reported-vs-Ours table with a reason for every gap</a:t>
            </a:r>
            <a:endParaRPr lang="en-US" sz="1400" dirty="0"/>
          </a:p>
        </p:txBody>
      </p:sp>
      <p:sp>
        <p:nvSpPr>
          <p:cNvPr id="8" name="card-11"/>
          <p:cNvSpPr/>
          <p:nvPr/>
        </p:nvSpPr>
        <p:spPr>
          <a:xfrm>
            <a:off x="4709160" y="1051560"/>
            <a:ext cx="3977640" cy="2240280"/>
          </a:xfrm>
          <a:prstGeom prst="roundRect">
            <a:avLst>
              <a:gd name="adj" fmla="val 3265"/>
            </a:avLst>
          </a:prstGeom>
          <a:solidFill>
            <a:schemeClr val="bg2"/>
          </a:solidFill>
          <a:ln/>
        </p:spPr>
      </p:sp>
      <p:sp>
        <p:nvSpPr>
          <p:cNvPr id="9" name="badge-12"/>
          <p:cNvSpPr/>
          <p:nvPr/>
        </p:nvSpPr>
        <p:spPr>
          <a:xfrm>
            <a:off x="4937760" y="1280160"/>
            <a:ext cx="384048" cy="384048"/>
          </a:xfrm>
          <a:prstGeom prst="ellipse">
            <a:avLst/>
          </a:prstGeom>
          <a:solidFill>
            <a:schemeClr val="accent1"/>
          </a:solidFill>
          <a:ln/>
        </p:spPr>
      </p:sp>
      <p:sp>
        <p:nvSpPr>
          <p:cNvPr id="10" name="badge-label-13"/>
          <p:cNvSpPr txBox="1"/>
          <p:nvPr/>
        </p:nvSpPr>
        <p:spPr>
          <a:xfrm>
            <a:off x="49377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head-14"/>
          <p:cNvSpPr txBox="1"/>
          <p:nvPr/>
        </p:nvSpPr>
        <p:spPr>
          <a:xfrm>
            <a:off x="5440680" y="1280160"/>
            <a:ext cx="3063240" cy="384048"/>
          </a:xfrm>
          <a:prstGeom prst="rect">
            <a:avLst/>
          </a:prstGeom>
          <a:noFill/>
          <a:ln/>
        </p:spPr>
        <p:txBody>
          <a:bodyPr wrap="square" lIns="0" tIns="0" rIns="0" bIns="0" rtlCol="0" anchor="ctr"/>
          <a:lstStyle/>
          <a:p>
            <a:pPr indent="0" marL="0">
              <a:buNone/>
            </a:pPr>
            <a:r>
              <a:rPr lang="en-US" sz="1800" b="1" dirty="0">
                <a:solidFill>
                  <a:schemeClr val="tx1"/>
                </a:solidFill>
              </a:rPr>
              <a:t>Part 2 — Extend</a:t>
            </a:r>
            <a:endParaRPr lang="en-US" sz="1800" dirty="0"/>
          </a:p>
        </p:txBody>
      </p:sp>
      <p:sp>
        <p:nvSpPr>
          <p:cNvPr id="12" name="card-body-15"/>
          <p:cNvSpPr txBox="1"/>
          <p:nvPr/>
        </p:nvSpPr>
        <p:spPr>
          <a:xfrm>
            <a:off x="4937760" y="1828800"/>
            <a:ext cx="3520440" cy="13258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DCTTS: convolutional Text2Mel + SSRN with guided-attention loss</a:t>
            </a:r>
            <a:endParaRPr lang="en-US" sz="1400" dirty="0"/>
          </a:p>
          <a:p>
            <a:pPr marL="177800" indent="-177800">
              <a:spcAft>
                <a:spcPts val="500"/>
              </a:spcAft>
              <a:buSzPct val="100000"/>
              <a:buChar char="•"/>
            </a:pPr>
            <a:r>
              <a:rPr lang="en-US" sz="1300" dirty="0">
                <a:solidFill>
                  <a:schemeClr val="tx1"/>
                </a:solidFill>
              </a:rPr>
              <a:t>Chosen to attack the paper’s main failure mode: attention drift → repeated words</a:t>
            </a:r>
            <a:endParaRPr lang="en-US" sz="1400" dirty="0"/>
          </a:p>
          <a:p>
            <a:pPr marL="177800" indent="-177800">
              <a:spcAft>
                <a:spcPts val="500"/>
              </a:spcAft>
              <a:buSzPct val="100000"/>
              <a:buChar char="•"/>
            </a:pPr>
            <a:r>
              <a:rPr lang="en-US" sz="1300" dirty="0">
                <a:solidFill>
                  <a:schemeClr val="tx1"/>
                </a:solidFill>
              </a:rPr>
              <a:t>Not used by the paper; same data, split and metrics</a:t>
            </a:r>
            <a:endParaRPr lang="en-US" sz="1400" dirty="0"/>
          </a:p>
        </p:txBody>
      </p:sp>
      <p:sp>
        <p:nvSpPr>
          <p:cNvPr id="13" name="label-16"/>
          <p:cNvSpPr txBox="1"/>
          <p:nvPr/>
        </p:nvSpPr>
        <p:spPr>
          <a:xfrm>
            <a:off x="457200" y="3520440"/>
            <a:ext cx="274320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CONSTRAINTS</a:t>
            </a:r>
            <a:endParaRPr lang="en-US" sz="1100" dirty="0"/>
          </a:p>
        </p:txBody>
      </p:sp>
      <p:sp>
        <p:nvSpPr>
          <p:cNvPr id="14" name="chip-17"/>
          <p:cNvSpPr/>
          <p:nvPr/>
        </p:nvSpPr>
        <p:spPr>
          <a:xfrm>
            <a:off x="457200" y="3840480"/>
            <a:ext cx="1417320" cy="457200"/>
          </a:xfrm>
          <a:prstGeom prst="roundRect">
            <a:avLst>
              <a:gd name="adj" fmla="val 50000"/>
            </a:avLst>
          </a:prstGeom>
          <a:solidFill>
            <a:schemeClr val="tx2"/>
          </a:solidFill>
          <a:ln/>
        </p:spPr>
      </p:sp>
      <p:sp>
        <p:nvSpPr>
          <p:cNvPr id="15" name="chip-label-18"/>
          <p:cNvSpPr txBox="1"/>
          <p:nvPr/>
        </p:nvSpPr>
        <p:spPr>
          <a:xfrm>
            <a:off x="457200" y="384048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CPU-only</a:t>
            </a:r>
            <a:endParaRPr lang="en-US" sz="1300" dirty="0"/>
          </a:p>
        </p:txBody>
      </p:sp>
      <p:sp>
        <p:nvSpPr>
          <p:cNvPr id="16" name="chip-19"/>
          <p:cNvSpPr/>
          <p:nvPr/>
        </p:nvSpPr>
        <p:spPr>
          <a:xfrm>
            <a:off x="2027225" y="3840480"/>
            <a:ext cx="1874520" cy="457200"/>
          </a:xfrm>
          <a:prstGeom prst="roundRect">
            <a:avLst>
              <a:gd name="adj" fmla="val 50000"/>
            </a:avLst>
          </a:prstGeom>
          <a:solidFill>
            <a:schemeClr val="tx2"/>
          </a:solidFill>
          <a:ln/>
        </p:spPr>
      </p:sp>
      <p:sp>
        <p:nvSpPr>
          <p:cNvPr id="17" name="chip-label-20"/>
          <p:cNvSpPr txBox="1"/>
          <p:nvPr/>
        </p:nvSpPr>
        <p:spPr>
          <a:xfrm>
            <a:off x="2027225" y="3840480"/>
            <a:ext cx="1874520" cy="457200"/>
          </a:xfrm>
          <a:prstGeom prst="rect">
            <a:avLst/>
          </a:prstGeom>
          <a:noFill/>
          <a:ln/>
        </p:spPr>
        <p:txBody>
          <a:bodyPr wrap="square" lIns="0" tIns="0" rIns="0" bIns="0" rtlCol="0" anchor="ctr"/>
          <a:lstStyle/>
          <a:p>
            <a:pPr algn="ctr" indent="0" marL="0">
              <a:buNone/>
            </a:pPr>
            <a:r>
              <a:rPr lang="en-US" sz="1300" b="1" dirty="0">
                <a:solidFill>
                  <a:schemeClr val="bg1"/>
                </a:solidFill>
              </a:rPr>
              <a:t>Time-boxed training</a:t>
            </a:r>
            <a:endParaRPr lang="en-US" sz="1300" dirty="0"/>
          </a:p>
        </p:txBody>
      </p:sp>
      <p:sp>
        <p:nvSpPr>
          <p:cNvPr id="18" name="chip-21"/>
          <p:cNvSpPr/>
          <p:nvPr/>
        </p:nvSpPr>
        <p:spPr>
          <a:xfrm>
            <a:off x="4054450" y="3840480"/>
            <a:ext cx="1508760" cy="457200"/>
          </a:xfrm>
          <a:prstGeom prst="roundRect">
            <a:avLst>
              <a:gd name="adj" fmla="val 50000"/>
            </a:avLst>
          </a:prstGeom>
          <a:solidFill>
            <a:schemeClr val="tx2"/>
          </a:solidFill>
          <a:ln/>
        </p:spPr>
      </p:sp>
      <p:sp>
        <p:nvSpPr>
          <p:cNvPr id="19" name="chip-label-22"/>
          <p:cNvSpPr txBox="1"/>
          <p:nvPr/>
        </p:nvSpPr>
        <p:spPr>
          <a:xfrm>
            <a:off x="4054450" y="3840480"/>
            <a:ext cx="1508760" cy="457200"/>
          </a:xfrm>
          <a:prstGeom prst="rect">
            <a:avLst/>
          </a:prstGeom>
          <a:noFill/>
          <a:ln/>
        </p:spPr>
        <p:txBody>
          <a:bodyPr wrap="square" lIns="0" tIns="0" rIns="0" bIns="0" rtlCol="0" anchor="ctr"/>
          <a:lstStyle/>
          <a:p>
            <a:pPr algn="ctr" indent="0" marL="0">
              <a:buNone/>
            </a:pPr>
            <a:r>
              <a:rPr lang="en-US" sz="1300" b="1" dirty="0">
                <a:solidFill>
                  <a:schemeClr val="bg1"/>
                </a:solidFill>
              </a:rPr>
              <a:t>All seeds = 42</a:t>
            </a:r>
            <a:endParaRPr lang="en-US" sz="1300" dirty="0"/>
          </a:p>
        </p:txBody>
      </p:sp>
      <p:sp>
        <p:nvSpPr>
          <p:cNvPr id="20" name="chip-23"/>
          <p:cNvSpPr/>
          <p:nvPr/>
        </p:nvSpPr>
        <p:spPr>
          <a:xfrm>
            <a:off x="5715914" y="3840480"/>
            <a:ext cx="2971800" cy="457200"/>
          </a:xfrm>
          <a:prstGeom prst="roundRect">
            <a:avLst>
              <a:gd name="adj" fmla="val 50000"/>
            </a:avLst>
          </a:prstGeom>
          <a:solidFill>
            <a:schemeClr val="tx2"/>
          </a:solidFill>
          <a:ln/>
        </p:spPr>
      </p:sp>
      <p:sp>
        <p:nvSpPr>
          <p:cNvPr id="21" name="chip-label-24"/>
          <p:cNvSpPr txBox="1"/>
          <p:nvPr/>
        </p:nvSpPr>
        <p:spPr>
          <a:xfrm>
            <a:off x="5715914" y="3840480"/>
            <a:ext cx="2971800" cy="457200"/>
          </a:xfrm>
          <a:prstGeom prst="rect">
            <a:avLst/>
          </a:prstGeom>
          <a:noFill/>
          <a:ln/>
        </p:spPr>
        <p:txBody>
          <a:bodyPr wrap="square" lIns="0" tIns="0" rIns="0" bIns="0" rtlCol="0" anchor="ctr"/>
          <a:lstStyle/>
          <a:p>
            <a:pPr algn="ctr" indent="0" marL="0">
              <a:buNone/>
            </a:pPr>
            <a:r>
              <a:rPr lang="en-US" sz="1300" b="1" dirty="0">
                <a:solidFill>
                  <a:schemeClr val="bg1"/>
                </a:solidFill>
              </a:rPr>
              <a:t>Every number traceable to code that ran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The reference paper: Colatron (CS229, 2018)</a:t>
            </a:r>
            <a:endParaRPr lang="en-US" sz="2800" dirty="0"/>
          </a:p>
        </p:txBody>
      </p:sp>
      <p:sp>
        <p:nvSpPr>
          <p:cNvPr id="3" name="sub-25"/>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400" dirty="0">
                <a:solidFill>
                  <a:schemeClr val="accent5"/>
                </a:solidFill>
              </a:rPr>
              <a:t>LJ Speech · single speaker · trained on ~200 sentences</a:t>
            </a:r>
            <a:endParaRPr lang="en-US" sz="1400" dirty="0"/>
          </a:p>
        </p:txBody>
      </p:sp>
      <p:sp>
        <p:nvSpPr>
          <p:cNvPr id="4" name="card-26"/>
          <p:cNvSpPr/>
          <p:nvPr/>
        </p:nvSpPr>
        <p:spPr>
          <a:xfrm>
            <a:off x="457200" y="1325880"/>
            <a:ext cx="1783080" cy="868680"/>
          </a:xfrm>
          <a:prstGeom prst="roundRect">
            <a:avLst>
              <a:gd name="adj" fmla="val 8421"/>
            </a:avLst>
          </a:prstGeom>
          <a:solidFill>
            <a:schemeClr val="bg2"/>
          </a:solidFill>
          <a:ln/>
        </p:spPr>
      </p:sp>
      <p:sp>
        <p:nvSpPr>
          <p:cNvPr id="5" name="step-k-27"/>
          <p:cNvSpPr txBox="1"/>
          <p:nvPr/>
        </p:nvSpPr>
        <p:spPr>
          <a:xfrm>
            <a:off x="594360" y="1417320"/>
            <a:ext cx="150876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TEXT</a:t>
            </a:r>
            <a:endParaRPr lang="en-US" sz="1000" dirty="0"/>
          </a:p>
        </p:txBody>
      </p:sp>
      <p:sp>
        <p:nvSpPr>
          <p:cNvPr id="6" name="step-v-28"/>
          <p:cNvSpPr txBox="1"/>
          <p:nvPr/>
        </p:nvSpPr>
        <p:spPr>
          <a:xfrm>
            <a:off x="594360" y="1636776"/>
            <a:ext cx="1508760" cy="502920"/>
          </a:xfrm>
          <a:prstGeom prst="rect">
            <a:avLst/>
          </a:prstGeom>
          <a:noFill/>
          <a:ln/>
        </p:spPr>
        <p:txBody>
          <a:bodyPr wrap="square" lIns="0" tIns="0" rIns="0" bIns="0" rtlCol="0" anchor="t"/>
          <a:lstStyle/>
          <a:p>
            <a:pPr indent="0" marL="0">
              <a:buNone/>
            </a:pPr>
            <a:r>
              <a:rPr lang="en-US" sz="1300" b="1" dirty="0">
                <a:solidFill>
                  <a:schemeClr val="tx1"/>
                </a:solidFill>
              </a:rPr>
              <a:t>CMU map:</a:t>
            </a:r>
            <a:endParaRPr lang="en-US" sz="1300" dirty="0"/>
          </a:p>
          <a:p>
            <a:pPr indent="0" marL="0">
              <a:buNone/>
            </a:pPr>
            <a:r>
              <a:rPr lang="en-US" sz="1300" b="1" dirty="0">
                <a:solidFill>
                  <a:schemeClr val="tx1"/>
                </a:solidFill>
              </a:rPr>
              <a:t>phonemes | letters</a:t>
            </a:r>
            <a:endParaRPr lang="en-US" sz="1300" dirty="0"/>
          </a:p>
        </p:txBody>
      </p:sp>
      <p:sp>
        <p:nvSpPr>
          <p:cNvPr id="7" name="arrow-29"/>
          <p:cNvSpPr/>
          <p:nvPr/>
        </p:nvSpPr>
        <p:spPr>
          <a:xfrm>
            <a:off x="2295144" y="1760220"/>
            <a:ext cx="256032" cy="0"/>
          </a:xfrm>
          <a:prstGeom prst="line">
            <a:avLst/>
          </a:prstGeom>
          <a:noFill/>
          <a:ln w="19050">
            <a:solidFill>
              <a:schemeClr val="accent5"/>
            </a:solidFill>
            <a:prstDash val="solid"/>
            <a:tailEnd type="triangle"/>
          </a:ln>
        </p:spPr>
      </p:sp>
      <p:sp>
        <p:nvSpPr>
          <p:cNvPr id="8" name="card-30"/>
          <p:cNvSpPr/>
          <p:nvPr/>
        </p:nvSpPr>
        <p:spPr>
          <a:xfrm>
            <a:off x="2606040" y="1325880"/>
            <a:ext cx="1783080" cy="868680"/>
          </a:xfrm>
          <a:prstGeom prst="roundRect">
            <a:avLst>
              <a:gd name="adj" fmla="val 8421"/>
            </a:avLst>
          </a:prstGeom>
          <a:solidFill>
            <a:schemeClr val="bg2"/>
          </a:solidFill>
          <a:ln/>
        </p:spPr>
      </p:sp>
      <p:sp>
        <p:nvSpPr>
          <p:cNvPr id="9" name="step-k-31"/>
          <p:cNvSpPr txBox="1"/>
          <p:nvPr/>
        </p:nvSpPr>
        <p:spPr>
          <a:xfrm>
            <a:off x="2743200" y="1417320"/>
            <a:ext cx="150876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AUDIO</a:t>
            </a:r>
            <a:endParaRPr lang="en-US" sz="1000" dirty="0"/>
          </a:p>
        </p:txBody>
      </p:sp>
      <p:sp>
        <p:nvSpPr>
          <p:cNvPr id="10" name="step-v-32"/>
          <p:cNvSpPr txBox="1"/>
          <p:nvPr/>
        </p:nvSpPr>
        <p:spPr>
          <a:xfrm>
            <a:off x="2743200" y="1636776"/>
            <a:ext cx="1508760" cy="502920"/>
          </a:xfrm>
          <a:prstGeom prst="rect">
            <a:avLst/>
          </a:prstGeom>
          <a:noFill/>
          <a:ln/>
        </p:spPr>
        <p:txBody>
          <a:bodyPr wrap="square" lIns="0" tIns="0" rIns="0" bIns="0" rtlCol="0" anchor="t"/>
          <a:lstStyle/>
          <a:p>
            <a:pPr indent="0" marL="0">
              <a:buNone/>
            </a:pPr>
            <a:r>
              <a:rPr lang="en-US" sz="1300" b="1" dirty="0">
                <a:solidFill>
                  <a:schemeClr val="tx1"/>
                </a:solidFill>
              </a:rPr>
              <a:t>Pre-emphasis</a:t>
            </a:r>
            <a:endParaRPr lang="en-US" sz="1300" dirty="0"/>
          </a:p>
          <a:p>
            <a:pPr indent="0" marL="0">
              <a:buNone/>
            </a:pPr>
            <a:r>
              <a:rPr lang="en-US" sz="1300" b="1" dirty="0">
                <a:solidFill>
                  <a:schemeClr val="tx1"/>
                </a:solidFill>
              </a:rPr>
              <a:t>+ STFT (1025 bins)</a:t>
            </a:r>
            <a:endParaRPr lang="en-US" sz="1300" dirty="0"/>
          </a:p>
        </p:txBody>
      </p:sp>
      <p:sp>
        <p:nvSpPr>
          <p:cNvPr id="11" name="arrow-33"/>
          <p:cNvSpPr/>
          <p:nvPr/>
        </p:nvSpPr>
        <p:spPr>
          <a:xfrm>
            <a:off x="4443984" y="1760220"/>
            <a:ext cx="256032" cy="0"/>
          </a:xfrm>
          <a:prstGeom prst="line">
            <a:avLst/>
          </a:prstGeom>
          <a:noFill/>
          <a:ln w="19050">
            <a:solidFill>
              <a:schemeClr val="accent5"/>
            </a:solidFill>
            <a:prstDash val="solid"/>
            <a:tailEnd type="triangle"/>
          </a:ln>
        </p:spPr>
      </p:sp>
      <p:sp>
        <p:nvSpPr>
          <p:cNvPr id="12" name="card-34"/>
          <p:cNvSpPr/>
          <p:nvPr/>
        </p:nvSpPr>
        <p:spPr>
          <a:xfrm>
            <a:off x="4754880" y="1325880"/>
            <a:ext cx="1783080" cy="868680"/>
          </a:xfrm>
          <a:prstGeom prst="roundRect">
            <a:avLst>
              <a:gd name="adj" fmla="val 8421"/>
            </a:avLst>
          </a:prstGeom>
          <a:solidFill>
            <a:schemeClr val="tx2"/>
          </a:solidFill>
          <a:ln/>
        </p:spPr>
      </p:sp>
      <p:sp>
        <p:nvSpPr>
          <p:cNvPr id="13" name="step-k-35"/>
          <p:cNvSpPr txBox="1"/>
          <p:nvPr/>
        </p:nvSpPr>
        <p:spPr>
          <a:xfrm>
            <a:off x="4892040" y="1417320"/>
            <a:ext cx="150876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MODEL</a:t>
            </a:r>
            <a:endParaRPr lang="en-US" sz="1000" dirty="0"/>
          </a:p>
        </p:txBody>
      </p:sp>
      <p:sp>
        <p:nvSpPr>
          <p:cNvPr id="14" name="step-v-36"/>
          <p:cNvSpPr txBox="1"/>
          <p:nvPr/>
        </p:nvSpPr>
        <p:spPr>
          <a:xfrm>
            <a:off x="4892040" y="1636776"/>
            <a:ext cx="1508760" cy="502920"/>
          </a:xfrm>
          <a:prstGeom prst="rect">
            <a:avLst/>
          </a:prstGeom>
          <a:noFill/>
          <a:ln/>
        </p:spPr>
        <p:txBody>
          <a:bodyPr wrap="square" lIns="0" tIns="0" rIns="0" bIns="0" rtlCol="0" anchor="t"/>
          <a:lstStyle/>
          <a:p>
            <a:pPr indent="0" marL="0">
              <a:buNone/>
            </a:pPr>
            <a:r>
              <a:rPr lang="en-US" sz="1300" b="1" dirty="0">
                <a:solidFill>
                  <a:schemeClr val="bg1"/>
                </a:solidFill>
              </a:rPr>
              <a:t>SVR · NN ·</a:t>
            </a:r>
            <a:endParaRPr lang="en-US" sz="1300" dirty="0"/>
          </a:p>
          <a:p>
            <a:pPr indent="0" marL="0">
              <a:buNone/>
            </a:pPr>
            <a:r>
              <a:rPr lang="en-US" sz="1300" b="1" dirty="0">
                <a:solidFill>
                  <a:schemeClr val="bg1"/>
                </a:solidFill>
              </a:rPr>
              <a:t>Seq2Seq</a:t>
            </a:r>
            <a:endParaRPr lang="en-US" sz="1300" dirty="0"/>
          </a:p>
        </p:txBody>
      </p:sp>
      <p:sp>
        <p:nvSpPr>
          <p:cNvPr id="15" name="arrow-37"/>
          <p:cNvSpPr/>
          <p:nvPr/>
        </p:nvSpPr>
        <p:spPr>
          <a:xfrm>
            <a:off x="6592824" y="1760220"/>
            <a:ext cx="256032" cy="0"/>
          </a:xfrm>
          <a:prstGeom prst="line">
            <a:avLst/>
          </a:prstGeom>
          <a:noFill/>
          <a:ln w="19050">
            <a:solidFill>
              <a:schemeClr val="accent5"/>
            </a:solidFill>
            <a:prstDash val="solid"/>
            <a:tailEnd type="triangle"/>
          </a:ln>
        </p:spPr>
      </p:sp>
      <p:sp>
        <p:nvSpPr>
          <p:cNvPr id="16" name="card-38"/>
          <p:cNvSpPr/>
          <p:nvPr/>
        </p:nvSpPr>
        <p:spPr>
          <a:xfrm>
            <a:off x="6903720" y="1325880"/>
            <a:ext cx="1783080" cy="868680"/>
          </a:xfrm>
          <a:prstGeom prst="roundRect">
            <a:avLst>
              <a:gd name="adj" fmla="val 8421"/>
            </a:avLst>
          </a:prstGeom>
          <a:solidFill>
            <a:schemeClr val="bg2"/>
          </a:solidFill>
          <a:ln/>
        </p:spPr>
      </p:sp>
      <p:sp>
        <p:nvSpPr>
          <p:cNvPr id="17" name="step-k-39"/>
          <p:cNvSpPr txBox="1"/>
          <p:nvPr/>
        </p:nvSpPr>
        <p:spPr>
          <a:xfrm>
            <a:off x="7040880" y="1417320"/>
            <a:ext cx="150876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OUTPUT</a:t>
            </a:r>
            <a:endParaRPr lang="en-US" sz="1000" dirty="0"/>
          </a:p>
        </p:txBody>
      </p:sp>
      <p:sp>
        <p:nvSpPr>
          <p:cNvPr id="18" name="step-v-40"/>
          <p:cNvSpPr txBox="1"/>
          <p:nvPr/>
        </p:nvSpPr>
        <p:spPr>
          <a:xfrm>
            <a:off x="7040880" y="1636776"/>
            <a:ext cx="1508760" cy="502920"/>
          </a:xfrm>
          <a:prstGeom prst="rect">
            <a:avLst/>
          </a:prstGeom>
          <a:noFill/>
          <a:ln/>
        </p:spPr>
        <p:txBody>
          <a:bodyPr wrap="square" lIns="0" tIns="0" rIns="0" bIns="0" rtlCol="0" anchor="t"/>
          <a:lstStyle/>
          <a:p>
            <a:pPr indent="0" marL="0">
              <a:buNone/>
            </a:pPr>
            <a:r>
              <a:rPr lang="en-US" sz="1300" b="1" dirty="0">
                <a:solidFill>
                  <a:schemeClr val="tx1"/>
                </a:solidFill>
              </a:rPr>
              <a:t>Griffin-Lim</a:t>
            </a:r>
            <a:endParaRPr lang="en-US" sz="1300" dirty="0"/>
          </a:p>
          <a:p>
            <a:pPr indent="0" marL="0">
              <a:buNone/>
            </a:pPr>
            <a:r>
              <a:rPr lang="en-US" sz="1300" b="1" dirty="0">
                <a:solidFill>
                  <a:schemeClr val="tx1"/>
                </a:solidFill>
              </a:rPr>
              <a:t>→ .wav</a:t>
            </a:r>
            <a:endParaRPr lang="en-US" sz="1300" dirty="0"/>
          </a:p>
        </p:txBody>
      </p:sp>
      <p:sp>
        <p:nvSpPr>
          <p:cNvPr id="19" name="label-41"/>
          <p:cNvSpPr txBox="1"/>
          <p:nvPr/>
        </p:nvSpPr>
        <p:spPr>
          <a:xfrm>
            <a:off x="457200" y="2423160"/>
            <a:ext cx="43891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HUMAN MOS (10 Stanford raters, Table 2)</a:t>
            </a:r>
            <a:endParaRPr lang="en-US" sz="1100" dirty="0"/>
          </a:p>
        </p:txBody>
      </p:sp>
      <p:sp>
        <p:nvSpPr>
          <p:cNvPr id="20" name="stat-42"/>
          <p:cNvSpPr txBox="1"/>
          <p:nvPr/>
        </p:nvSpPr>
        <p:spPr>
          <a:xfrm>
            <a:off x="457200" y="2697480"/>
            <a:ext cx="1280160" cy="68580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1.0</a:t>
            </a:r>
            <a:endParaRPr lang="en-US" sz="4400" dirty="0"/>
          </a:p>
        </p:txBody>
      </p:sp>
      <p:sp>
        <p:nvSpPr>
          <p:cNvPr id="21" name="stat-label-43"/>
          <p:cNvSpPr txBox="1"/>
          <p:nvPr/>
        </p:nvSpPr>
        <p:spPr>
          <a:xfrm>
            <a:off x="457200" y="3383280"/>
            <a:ext cx="1280160" cy="274320"/>
          </a:xfrm>
          <a:prstGeom prst="rect">
            <a:avLst/>
          </a:prstGeom>
          <a:noFill/>
          <a:ln/>
        </p:spPr>
        <p:txBody>
          <a:bodyPr wrap="square" lIns="0" tIns="0" rIns="0" bIns="0" rtlCol="0" anchor="t"/>
          <a:lstStyle/>
          <a:p>
            <a:pPr indent="0" marL="0">
              <a:buNone/>
            </a:pPr>
            <a:r>
              <a:rPr lang="en-US" sz="1300" dirty="0">
                <a:solidFill>
                  <a:schemeClr val="accent5"/>
                </a:solidFill>
              </a:rPr>
              <a:t>SVR</a:t>
            </a:r>
            <a:endParaRPr lang="en-US" sz="1300" dirty="0"/>
          </a:p>
        </p:txBody>
      </p:sp>
      <p:sp>
        <p:nvSpPr>
          <p:cNvPr id="22" name="stat-44"/>
          <p:cNvSpPr txBox="1"/>
          <p:nvPr/>
        </p:nvSpPr>
        <p:spPr>
          <a:xfrm>
            <a:off x="1920240" y="2697480"/>
            <a:ext cx="1280160" cy="68580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1.7</a:t>
            </a:r>
            <a:endParaRPr lang="en-US" sz="4400" dirty="0"/>
          </a:p>
        </p:txBody>
      </p:sp>
      <p:sp>
        <p:nvSpPr>
          <p:cNvPr id="23" name="stat-label-45"/>
          <p:cNvSpPr txBox="1"/>
          <p:nvPr/>
        </p:nvSpPr>
        <p:spPr>
          <a:xfrm>
            <a:off x="1920240" y="3383280"/>
            <a:ext cx="1280160" cy="274320"/>
          </a:xfrm>
          <a:prstGeom prst="rect">
            <a:avLst/>
          </a:prstGeom>
          <a:noFill/>
          <a:ln/>
        </p:spPr>
        <p:txBody>
          <a:bodyPr wrap="square" lIns="0" tIns="0" rIns="0" bIns="0" rtlCol="0" anchor="t"/>
          <a:lstStyle/>
          <a:p>
            <a:pPr indent="0" marL="0">
              <a:buNone/>
            </a:pPr>
            <a:r>
              <a:rPr lang="en-US" sz="1300" dirty="0">
                <a:solidFill>
                  <a:schemeClr val="accent5"/>
                </a:solidFill>
              </a:rPr>
              <a:t>NN</a:t>
            </a:r>
            <a:endParaRPr lang="en-US" sz="1300" dirty="0"/>
          </a:p>
        </p:txBody>
      </p:sp>
      <p:sp>
        <p:nvSpPr>
          <p:cNvPr id="24" name="stat-46"/>
          <p:cNvSpPr txBox="1"/>
          <p:nvPr/>
        </p:nvSpPr>
        <p:spPr>
          <a:xfrm>
            <a:off x="3383280" y="2697480"/>
            <a:ext cx="1280160" cy="6858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2.5</a:t>
            </a:r>
            <a:endParaRPr lang="en-US" sz="4400" dirty="0"/>
          </a:p>
        </p:txBody>
      </p:sp>
      <p:sp>
        <p:nvSpPr>
          <p:cNvPr id="25" name="stat-label-47"/>
          <p:cNvSpPr txBox="1"/>
          <p:nvPr/>
        </p:nvSpPr>
        <p:spPr>
          <a:xfrm>
            <a:off x="3383280" y="3383280"/>
            <a:ext cx="1280160" cy="274320"/>
          </a:xfrm>
          <a:prstGeom prst="rect">
            <a:avLst/>
          </a:prstGeom>
          <a:noFill/>
          <a:ln/>
        </p:spPr>
        <p:txBody>
          <a:bodyPr wrap="square" lIns="0" tIns="0" rIns="0" bIns="0" rtlCol="0" anchor="t"/>
          <a:lstStyle/>
          <a:p>
            <a:pPr indent="0" marL="0">
              <a:buNone/>
            </a:pPr>
            <a:r>
              <a:rPr lang="en-US" sz="1300" dirty="0">
                <a:solidFill>
                  <a:schemeClr val="accent5"/>
                </a:solidFill>
              </a:rPr>
              <a:t>Seq2Seq</a:t>
            </a:r>
            <a:endParaRPr lang="en-US" sz="1300" dirty="0"/>
          </a:p>
        </p:txBody>
      </p:sp>
      <p:sp>
        <p:nvSpPr>
          <p:cNvPr id="26" name="note-48"/>
          <p:cNvSpPr txBox="1"/>
          <p:nvPr/>
        </p:nvSpPr>
        <p:spPr>
          <a:xfrm>
            <a:off x="457200" y="3749040"/>
            <a:ext cx="4206240" cy="274320"/>
          </a:xfrm>
          <a:prstGeom prst="rect">
            <a:avLst/>
          </a:prstGeom>
          <a:noFill/>
          <a:ln/>
        </p:spPr>
        <p:txBody>
          <a:bodyPr wrap="square" lIns="0" tIns="0" rIns="0" bIns="0" rtlCol="0" anchor="t"/>
          <a:lstStyle/>
          <a:p>
            <a:pPr indent="0" marL="0">
              <a:buNone/>
            </a:pPr>
            <a:r>
              <a:rPr lang="en-US" sz="1100" i="1" dirty="0">
                <a:solidFill>
                  <a:schemeClr val="accent5"/>
                </a:solidFill>
              </a:rPr>
              <a:t>Tacotron’s 3.82 cited for context only</a:t>
            </a:r>
            <a:endParaRPr lang="en-US" sz="1100" dirty="0"/>
          </a:p>
        </p:txBody>
      </p:sp>
      <p:sp>
        <p:nvSpPr>
          <p:cNvPr id="27" name="card-49"/>
          <p:cNvSpPr/>
          <p:nvPr/>
        </p:nvSpPr>
        <p:spPr>
          <a:xfrm>
            <a:off x="4937760" y="2468880"/>
            <a:ext cx="3749040" cy="1920240"/>
          </a:xfrm>
          <a:prstGeom prst="roundRect">
            <a:avLst>
              <a:gd name="adj" fmla="val 3810"/>
            </a:avLst>
          </a:prstGeom>
          <a:solidFill>
            <a:schemeClr val="bg2"/>
          </a:solidFill>
          <a:ln/>
        </p:spPr>
      </p:sp>
      <p:sp>
        <p:nvSpPr>
          <p:cNvPr id="28" name="badge-50"/>
          <p:cNvSpPr/>
          <p:nvPr/>
        </p:nvSpPr>
        <p:spPr>
          <a:xfrm>
            <a:off x="5120640" y="2651760"/>
            <a:ext cx="384048" cy="384048"/>
          </a:xfrm>
          <a:prstGeom prst="ellipse">
            <a:avLst/>
          </a:prstGeom>
          <a:solidFill>
            <a:schemeClr val="accent1"/>
          </a:solidFill>
          <a:ln/>
        </p:spPr>
      </p:sp>
      <p:sp>
        <p:nvSpPr>
          <p:cNvPr id="29" name="badge-label-51"/>
          <p:cNvSpPr txBox="1"/>
          <p:nvPr/>
        </p:nvSpPr>
        <p:spPr>
          <a:xfrm>
            <a:off x="5120640" y="2651760"/>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0" name="card-head-52"/>
          <p:cNvSpPr txBox="1"/>
          <p:nvPr/>
        </p:nvSpPr>
        <p:spPr>
          <a:xfrm>
            <a:off x="5623560" y="2651760"/>
            <a:ext cx="2834640" cy="384048"/>
          </a:xfrm>
          <a:prstGeom prst="rect">
            <a:avLst/>
          </a:prstGeom>
          <a:noFill/>
          <a:ln/>
        </p:spPr>
        <p:txBody>
          <a:bodyPr wrap="square" lIns="0" tIns="0" rIns="0" bIns="0" rtlCol="0" anchor="ctr"/>
          <a:lstStyle/>
          <a:p>
            <a:pPr indent="0" marL="0">
              <a:buNone/>
            </a:pPr>
            <a:r>
              <a:rPr lang="en-US" sz="1800" b="1" dirty="0">
                <a:solidFill>
                  <a:schemeClr val="tx1"/>
                </a:solidFill>
              </a:rPr>
              <a:t>Key finding</a:t>
            </a:r>
            <a:endParaRPr lang="en-US" sz="1800" dirty="0"/>
          </a:p>
        </p:txBody>
      </p:sp>
      <p:sp>
        <p:nvSpPr>
          <p:cNvPr id="31" name="card-body-53"/>
          <p:cNvSpPr txBox="1"/>
          <p:nvPr/>
        </p:nvSpPr>
        <p:spPr>
          <a:xfrm>
            <a:off x="5120640" y="3154680"/>
            <a:ext cx="338328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Seq2Seq sounds like speech but </a:t>
            </a:r>
            <a:r>
              <a:rPr lang="en-US" sz="1300" b="1" dirty="0">
                <a:solidFill>
                  <a:schemeClr val="tx1"/>
                </a:solidFill>
              </a:rPr>
              <a:t>repeats words</a:t>
            </a:r>
            <a:r>
              <a:rPr lang="en-US" sz="1300" dirty="0">
                <a:solidFill>
                  <a:schemeClr val="tx1"/>
                </a:solidFill>
              </a:rPr>
              <a:t> and leaves sentences incomplete</a:t>
            </a:r>
            <a:endParaRPr lang="en-US" sz="1400" dirty="0"/>
          </a:p>
          <a:p>
            <a:pPr marL="177800" indent="-177800">
              <a:spcAft>
                <a:spcPts val="500"/>
              </a:spcAft>
              <a:buSzPct val="100000"/>
              <a:buChar char="•"/>
            </a:pPr>
            <a:r>
              <a:rPr lang="en-US" sz="1300" dirty="0">
                <a:solidFill>
                  <a:schemeClr val="tx1"/>
                </a:solidFill>
              </a:rPr>
              <a:t>Cause: the </a:t>
            </a:r>
            <a:r>
              <a:rPr lang="en-US" sz="1300" b="1" dirty="0">
                <a:solidFill>
                  <a:schemeClr val="tx1"/>
                </a:solidFill>
              </a:rPr>
              <a:t>attention alignment drifts</a:t>
            </a:r>
            <a:endParaRPr lang="en-US" sz="1400" dirty="0"/>
          </a:p>
          <a:p>
            <a:pPr marL="177800" indent="-177800">
              <a:spcAft>
                <a:spcPts val="500"/>
              </a:spcAft>
              <a:buSzPct val="100000"/>
              <a:buChar char="•"/>
            </a:pPr>
            <a:r>
              <a:rPr lang="en-US" sz="1300" dirty="0">
                <a:solidFill>
                  <a:schemeClr val="tx1"/>
                </a:solidFill>
              </a:rPr>
              <a:t>SVR: disjoint words · NN: random phoneme mix</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Data &amp; preprocessing pipeline</a:t>
            </a:r>
            <a:endParaRPr lang="en-US" sz="2800" dirty="0"/>
          </a:p>
        </p:txBody>
      </p:sp>
      <p:sp>
        <p:nvSpPr>
          <p:cNvPr id="3" name="stat-54"/>
          <p:cNvSpPr txBox="1"/>
          <p:nvPr/>
        </p:nvSpPr>
        <p:spPr>
          <a:xfrm>
            <a:off x="457200" y="960120"/>
            <a:ext cx="1508760" cy="45720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200 / 25 / 25</a:t>
            </a:r>
            <a:endParaRPr lang="en-US" sz="1900" dirty="0"/>
          </a:p>
        </p:txBody>
      </p:sp>
      <p:sp>
        <p:nvSpPr>
          <p:cNvPr id="4" name="stat-label-55"/>
          <p:cNvSpPr txBox="1"/>
          <p:nvPr/>
        </p:nvSpPr>
        <p:spPr>
          <a:xfrm>
            <a:off x="457200" y="1417320"/>
            <a:ext cx="1508760" cy="228600"/>
          </a:xfrm>
          <a:prstGeom prst="rect">
            <a:avLst/>
          </a:prstGeom>
          <a:noFill/>
          <a:ln/>
        </p:spPr>
        <p:txBody>
          <a:bodyPr wrap="square" lIns="0" tIns="0" rIns="0" bIns="0" rtlCol="0" anchor="t"/>
          <a:lstStyle/>
          <a:p>
            <a:pPr indent="0" marL="0">
              <a:buNone/>
            </a:pPr>
            <a:r>
              <a:rPr lang="en-US" sz="1100" dirty="0">
                <a:solidFill>
                  <a:schemeClr val="accent5"/>
                </a:solidFill>
              </a:rPr>
              <a:t>train / dev / test</a:t>
            </a:r>
            <a:endParaRPr lang="en-US" sz="1100" dirty="0"/>
          </a:p>
        </p:txBody>
      </p:sp>
      <p:sp>
        <p:nvSpPr>
          <p:cNvPr id="5" name="stat-56"/>
          <p:cNvSpPr txBox="1"/>
          <p:nvPr/>
        </p:nvSpPr>
        <p:spPr>
          <a:xfrm>
            <a:off x="2011680" y="960120"/>
            <a:ext cx="10515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1.5–5.0 s</a:t>
            </a:r>
            <a:endParaRPr lang="en-US" sz="2200" dirty="0"/>
          </a:p>
        </p:txBody>
      </p:sp>
      <p:sp>
        <p:nvSpPr>
          <p:cNvPr id="6" name="stat-label-57"/>
          <p:cNvSpPr txBox="1"/>
          <p:nvPr/>
        </p:nvSpPr>
        <p:spPr>
          <a:xfrm>
            <a:off x="2011680" y="1417320"/>
            <a:ext cx="1051560" cy="228600"/>
          </a:xfrm>
          <a:prstGeom prst="rect">
            <a:avLst/>
          </a:prstGeom>
          <a:noFill/>
          <a:ln/>
        </p:spPr>
        <p:txBody>
          <a:bodyPr wrap="square" lIns="0" tIns="0" rIns="0" bIns="0" rtlCol="0" anchor="t"/>
          <a:lstStyle/>
          <a:p>
            <a:pPr indent="0" marL="0">
              <a:buNone/>
            </a:pPr>
            <a:r>
              <a:rPr lang="en-US" sz="1100" dirty="0">
                <a:solidFill>
                  <a:schemeClr val="accent5"/>
                </a:solidFill>
              </a:rPr>
              <a:t>clip band</a:t>
            </a:r>
            <a:endParaRPr lang="en-US" sz="1100" dirty="0"/>
          </a:p>
        </p:txBody>
      </p:sp>
      <p:sp>
        <p:nvSpPr>
          <p:cNvPr id="7" name="stat-58"/>
          <p:cNvSpPr txBox="1"/>
          <p:nvPr/>
        </p:nvSpPr>
        <p:spPr>
          <a:xfrm>
            <a:off x="3154680" y="960120"/>
            <a:ext cx="10515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42</a:t>
            </a:r>
            <a:endParaRPr lang="en-US" sz="2200" dirty="0"/>
          </a:p>
        </p:txBody>
      </p:sp>
      <p:sp>
        <p:nvSpPr>
          <p:cNvPr id="8" name="stat-label-59"/>
          <p:cNvSpPr txBox="1"/>
          <p:nvPr/>
        </p:nvSpPr>
        <p:spPr>
          <a:xfrm>
            <a:off x="3154680" y="1417320"/>
            <a:ext cx="1051560" cy="228600"/>
          </a:xfrm>
          <a:prstGeom prst="rect">
            <a:avLst/>
          </a:prstGeom>
          <a:noFill/>
          <a:ln/>
        </p:spPr>
        <p:txBody>
          <a:bodyPr wrap="square" lIns="0" tIns="0" rIns="0" bIns="0" rtlCol="0" anchor="t"/>
          <a:lstStyle/>
          <a:p>
            <a:pPr indent="0" marL="0">
              <a:buNone/>
            </a:pPr>
            <a:r>
              <a:rPr lang="en-US" sz="1100" dirty="0">
                <a:solidFill>
                  <a:schemeClr val="accent5"/>
                </a:solidFill>
              </a:rPr>
              <a:t>seed</a:t>
            </a:r>
            <a:endParaRPr lang="en-US" sz="1100" dirty="0"/>
          </a:p>
        </p:txBody>
      </p:sp>
      <p:sp>
        <p:nvSpPr>
          <p:cNvPr id="9" name="body-60"/>
          <p:cNvSpPr txBox="1"/>
          <p:nvPr/>
        </p:nvSpPr>
        <p:spPr>
          <a:xfrm>
            <a:off x="457200" y="1828800"/>
            <a:ext cx="3611880" cy="274320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tx1"/>
                </a:solidFill>
              </a:rPr>
              <a:t>LJ Speech 1.1</a:t>
            </a:r>
            <a:r>
              <a:rPr lang="en-US" sz="1300" dirty="0">
                <a:solidFill>
                  <a:schemeClr val="tx1"/>
                </a:solidFill>
              </a:rPr>
              <a:t>, streamed from the HuggingFace parquet mirror (no 2.6 GB tar)</a:t>
            </a:r>
            <a:endParaRPr lang="en-US" sz="1400" dirty="0"/>
          </a:p>
          <a:p>
            <a:pPr marL="177800" indent="-177800">
              <a:spcAft>
                <a:spcPts val="600"/>
              </a:spcAft>
              <a:buSzPct val="100000"/>
              <a:buChar char="•"/>
            </a:pPr>
            <a:r>
              <a:rPr lang="en-US" sz="1300" dirty="0">
                <a:solidFill>
                  <a:schemeClr val="tx1"/>
                </a:solidFill>
              </a:rPr>
              <a:t>Clip band keeps CPU zero-padding tractable — </a:t>
            </a:r>
            <a:r>
              <a:rPr lang="en-US" sz="1300" b="1" dirty="0">
                <a:solidFill>
                  <a:schemeClr val="tx1"/>
                </a:solidFill>
              </a:rPr>
              <a:t>the same memory wall the authors report</a:t>
            </a:r>
            <a:endParaRPr lang="en-US" sz="1400" dirty="0"/>
          </a:p>
          <a:p>
            <a:pPr marL="177800" indent="-177800">
              <a:spcAft>
                <a:spcPts val="600"/>
              </a:spcAft>
              <a:buSzPct val="100000"/>
              <a:buChar char="•"/>
            </a:pPr>
            <a:r>
              <a:rPr lang="en-US" sz="1300" b="1" dirty="0">
                <a:solidFill>
                  <a:schemeClr val="tx1"/>
                </a:solidFill>
              </a:rPr>
              <a:t>Text: </a:t>
            </a:r>
            <a:r>
              <a:rPr lang="en-US" sz="1300" dirty="0">
                <a:solidFill>
                  <a:schemeClr val="tx1"/>
                </a:solidFill>
              </a:rPr>
              <a:t>each word → CMU phonemes or letters (p = 0.5) → symbol IDs → padded</a:t>
            </a:r>
            <a:endParaRPr lang="en-US" sz="1400" dirty="0"/>
          </a:p>
          <a:p>
            <a:pPr marL="177800" indent="-177800">
              <a:spcAft>
                <a:spcPts val="600"/>
              </a:spcAft>
              <a:buSzPct val="100000"/>
              <a:buChar char="•"/>
            </a:pPr>
            <a:r>
              <a:rPr lang="en-US" sz="1300" b="1" dirty="0">
                <a:solidFill>
                  <a:schemeClr val="tx1"/>
                </a:solidFill>
              </a:rPr>
              <a:t>Inversion: </a:t>
            </a:r>
            <a:r>
              <a:rPr lang="en-US" sz="1300" dirty="0">
                <a:solidFill>
                  <a:schemeClr val="tx1"/>
                </a:solidFill>
              </a:rPr>
              <a:t>Griffin-Lim (60 iters, power 1.5) + de-emphasis, shared by every model</a:t>
            </a:r>
            <a:endParaRPr lang="en-US" sz="1400" dirty="0"/>
          </a:p>
        </p:txBody>
      </p:sp>
      <p:pic>
        <p:nvPicPr>
          <p:cNvPr id="10" name="figure-61" descr="Histograms of clip duration (1.6–5.0 s) and symbol-sequence length (about 20–86 symbols)">    </p:cNvPr>
          <p:cNvPicPr>
            <a:picLocks noChangeAspect="1"/>
          </p:cNvPicPr>
          <p:nvPr/>
        </p:nvPicPr>
        <p:blipFill>
          <a:blip r:embed="rId1"/>
          <a:stretch>
            <a:fillRect/>
          </a:stretch>
        </p:blipFill>
        <p:spPr>
          <a:xfrm>
            <a:off x="4343400" y="914400"/>
            <a:ext cx="4343400" cy="1737360"/>
          </a:xfrm>
          <a:prstGeom prst="rect">
            <a:avLst/>
          </a:prstGeom>
        </p:spPr>
      </p:pic>
      <p:sp>
        <p:nvSpPr>
          <p:cNvPr id="11" name="caption-62"/>
          <p:cNvSpPr txBox="1"/>
          <p:nvPr/>
        </p:nvSpPr>
        <p:spPr>
          <a:xfrm>
            <a:off x="4343400" y="2670048"/>
            <a:ext cx="4343400" cy="274320"/>
          </a:xfrm>
          <a:prstGeom prst="rect">
            <a:avLst/>
          </a:prstGeom>
          <a:noFill/>
          <a:ln/>
        </p:spPr>
        <p:txBody>
          <a:bodyPr wrap="square" lIns="0" tIns="0" rIns="0" bIns="0" rtlCol="0" anchor="t"/>
          <a:lstStyle/>
          <a:p>
            <a:pPr algn="l" indent="0" marL="0">
              <a:buNone/>
            </a:pPr>
            <a:r>
              <a:rPr lang="en-US" sz="1000" i="1" dirty="0">
                <a:solidFill>
                  <a:schemeClr val="accent5"/>
                </a:solidFill>
              </a:rPr>
              <a:t>Clip durations and symbol-sequence lengths across all 250 clips</a:t>
            </a:r>
            <a:endParaRPr lang="en-US" sz="1000" dirty="0"/>
          </a:p>
        </p:txBody>
      </p:sp>
      <p:sp>
        <p:nvSpPr>
          <p:cNvPr id="12" name="label-63"/>
          <p:cNvSpPr txBox="1"/>
          <p:nvPr/>
        </p:nvSpPr>
        <p:spPr>
          <a:xfrm>
            <a:off x="4343400" y="3063240"/>
            <a:ext cx="434340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AUDIO FRONT-END — TAKEN FROM THE AUTHORS’ CODE</a:t>
            </a:r>
            <a:endParaRPr lang="en-US" sz="1000" dirty="0"/>
          </a:p>
        </p:txBody>
      </p:sp>
      <p:sp>
        <p:nvSpPr>
          <p:cNvPr id="13" name="card-64"/>
          <p:cNvSpPr/>
          <p:nvPr/>
        </p:nvSpPr>
        <p:spPr>
          <a:xfrm>
            <a:off x="4343400" y="3364992"/>
            <a:ext cx="1371600" cy="548640"/>
          </a:xfrm>
          <a:prstGeom prst="roundRect">
            <a:avLst>
              <a:gd name="adj" fmla="val 13333"/>
            </a:avLst>
          </a:prstGeom>
          <a:solidFill>
            <a:schemeClr val="bg2"/>
          </a:solidFill>
          <a:ln/>
        </p:spPr>
      </p:sp>
      <p:sp>
        <p:nvSpPr>
          <p:cNvPr id="14" name="param-k-65"/>
          <p:cNvSpPr txBox="1"/>
          <p:nvPr/>
        </p:nvSpPr>
        <p:spPr>
          <a:xfrm>
            <a:off x="4434840" y="341985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sr</a:t>
            </a:r>
            <a:endParaRPr lang="en-US" sz="1000" dirty="0"/>
          </a:p>
        </p:txBody>
      </p:sp>
      <p:sp>
        <p:nvSpPr>
          <p:cNvPr id="15" name="param-v-66"/>
          <p:cNvSpPr txBox="1"/>
          <p:nvPr/>
        </p:nvSpPr>
        <p:spPr>
          <a:xfrm>
            <a:off x="4434840" y="3621024"/>
            <a:ext cx="1188720" cy="237744"/>
          </a:xfrm>
          <a:prstGeom prst="rect">
            <a:avLst/>
          </a:prstGeom>
          <a:noFill/>
          <a:ln/>
        </p:spPr>
        <p:txBody>
          <a:bodyPr wrap="square" lIns="0" tIns="0" rIns="0" bIns="0" rtlCol="0" anchor="t"/>
          <a:lstStyle/>
          <a:p>
            <a:pPr indent="0" marL="0">
              <a:buNone/>
            </a:pPr>
            <a:r>
              <a:rPr lang="en-US" sz="1200" b="1" dirty="0">
                <a:solidFill>
                  <a:schemeClr val="tx1"/>
                </a:solidFill>
              </a:rPr>
              <a:t>20 kHz</a:t>
            </a:r>
            <a:endParaRPr lang="en-US" sz="1200" dirty="0"/>
          </a:p>
        </p:txBody>
      </p:sp>
      <p:sp>
        <p:nvSpPr>
          <p:cNvPr id="16" name="card-67"/>
          <p:cNvSpPr/>
          <p:nvPr/>
        </p:nvSpPr>
        <p:spPr>
          <a:xfrm>
            <a:off x="5806440" y="3364992"/>
            <a:ext cx="1371600" cy="548640"/>
          </a:xfrm>
          <a:prstGeom prst="roundRect">
            <a:avLst>
              <a:gd name="adj" fmla="val 13333"/>
            </a:avLst>
          </a:prstGeom>
          <a:solidFill>
            <a:schemeClr val="bg2"/>
          </a:solidFill>
          <a:ln/>
        </p:spPr>
      </p:sp>
      <p:sp>
        <p:nvSpPr>
          <p:cNvPr id="17" name="param-k-68"/>
          <p:cNvSpPr txBox="1"/>
          <p:nvPr/>
        </p:nvSpPr>
        <p:spPr>
          <a:xfrm>
            <a:off x="5897880" y="341985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n_fft</a:t>
            </a:r>
            <a:endParaRPr lang="en-US" sz="1000" dirty="0"/>
          </a:p>
        </p:txBody>
      </p:sp>
      <p:sp>
        <p:nvSpPr>
          <p:cNvPr id="18" name="param-v-69"/>
          <p:cNvSpPr txBox="1"/>
          <p:nvPr/>
        </p:nvSpPr>
        <p:spPr>
          <a:xfrm>
            <a:off x="5897880" y="3621024"/>
            <a:ext cx="1188720" cy="237744"/>
          </a:xfrm>
          <a:prstGeom prst="rect">
            <a:avLst/>
          </a:prstGeom>
          <a:noFill/>
          <a:ln/>
        </p:spPr>
        <p:txBody>
          <a:bodyPr wrap="square" lIns="0" tIns="0" rIns="0" bIns="0" rtlCol="0" anchor="t"/>
          <a:lstStyle/>
          <a:p>
            <a:pPr indent="0" marL="0">
              <a:buNone/>
            </a:pPr>
            <a:r>
              <a:rPr lang="en-US" sz="1200" b="1" dirty="0">
                <a:solidFill>
                  <a:schemeClr val="tx1"/>
                </a:solidFill>
              </a:rPr>
              <a:t>2048 (1025 bins)</a:t>
            </a:r>
            <a:endParaRPr lang="en-US" sz="1200" dirty="0"/>
          </a:p>
        </p:txBody>
      </p:sp>
      <p:sp>
        <p:nvSpPr>
          <p:cNvPr id="19" name="card-70"/>
          <p:cNvSpPr/>
          <p:nvPr/>
        </p:nvSpPr>
        <p:spPr>
          <a:xfrm>
            <a:off x="7269480" y="3364992"/>
            <a:ext cx="1371600" cy="548640"/>
          </a:xfrm>
          <a:prstGeom prst="roundRect">
            <a:avLst>
              <a:gd name="adj" fmla="val 13333"/>
            </a:avLst>
          </a:prstGeom>
          <a:solidFill>
            <a:schemeClr val="bg2"/>
          </a:solidFill>
          <a:ln/>
        </p:spPr>
      </p:sp>
      <p:sp>
        <p:nvSpPr>
          <p:cNvPr id="20" name="param-k-71"/>
          <p:cNvSpPr txBox="1"/>
          <p:nvPr/>
        </p:nvSpPr>
        <p:spPr>
          <a:xfrm>
            <a:off x="7360920" y="341985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hop</a:t>
            </a:r>
            <a:endParaRPr lang="en-US" sz="1000" dirty="0"/>
          </a:p>
        </p:txBody>
      </p:sp>
      <p:sp>
        <p:nvSpPr>
          <p:cNvPr id="21" name="param-v-72"/>
          <p:cNvSpPr txBox="1"/>
          <p:nvPr/>
        </p:nvSpPr>
        <p:spPr>
          <a:xfrm>
            <a:off x="7360920" y="3621024"/>
            <a:ext cx="1188720" cy="237744"/>
          </a:xfrm>
          <a:prstGeom prst="rect">
            <a:avLst/>
          </a:prstGeom>
          <a:noFill/>
          <a:ln/>
        </p:spPr>
        <p:txBody>
          <a:bodyPr wrap="square" lIns="0" tIns="0" rIns="0" bIns="0" rtlCol="0" anchor="t"/>
          <a:lstStyle/>
          <a:p>
            <a:pPr indent="0" marL="0">
              <a:buNone/>
            </a:pPr>
            <a:r>
              <a:rPr lang="en-US" sz="1200" b="1" dirty="0">
                <a:solidFill>
                  <a:schemeClr val="tx1"/>
                </a:solidFill>
              </a:rPr>
              <a:t>250 (12.5 ms)</a:t>
            </a:r>
            <a:endParaRPr lang="en-US" sz="1200" dirty="0"/>
          </a:p>
        </p:txBody>
      </p:sp>
      <p:sp>
        <p:nvSpPr>
          <p:cNvPr id="22" name="card-73"/>
          <p:cNvSpPr/>
          <p:nvPr/>
        </p:nvSpPr>
        <p:spPr>
          <a:xfrm>
            <a:off x="4343400" y="4005072"/>
            <a:ext cx="1371600" cy="548640"/>
          </a:xfrm>
          <a:prstGeom prst="roundRect">
            <a:avLst>
              <a:gd name="adj" fmla="val 13333"/>
            </a:avLst>
          </a:prstGeom>
          <a:solidFill>
            <a:schemeClr val="bg2"/>
          </a:solidFill>
          <a:ln/>
        </p:spPr>
      </p:sp>
      <p:sp>
        <p:nvSpPr>
          <p:cNvPr id="23" name="param-k-74"/>
          <p:cNvSpPr txBox="1"/>
          <p:nvPr/>
        </p:nvSpPr>
        <p:spPr>
          <a:xfrm>
            <a:off x="4434840" y="405993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win</a:t>
            </a:r>
            <a:endParaRPr lang="en-US" sz="1000" dirty="0"/>
          </a:p>
        </p:txBody>
      </p:sp>
      <p:sp>
        <p:nvSpPr>
          <p:cNvPr id="24" name="param-v-75"/>
          <p:cNvSpPr txBox="1"/>
          <p:nvPr/>
        </p:nvSpPr>
        <p:spPr>
          <a:xfrm>
            <a:off x="4434840" y="4261104"/>
            <a:ext cx="1188720" cy="237744"/>
          </a:xfrm>
          <a:prstGeom prst="rect">
            <a:avLst/>
          </a:prstGeom>
          <a:noFill/>
          <a:ln/>
        </p:spPr>
        <p:txBody>
          <a:bodyPr wrap="square" lIns="0" tIns="0" rIns="0" bIns="0" rtlCol="0" anchor="t"/>
          <a:lstStyle/>
          <a:p>
            <a:pPr indent="0" marL="0">
              <a:buNone/>
            </a:pPr>
            <a:r>
              <a:rPr lang="en-US" sz="1200" b="1" dirty="0">
                <a:solidFill>
                  <a:schemeClr val="tx1"/>
                </a:solidFill>
              </a:rPr>
              <a:t>1000 (50 ms)</a:t>
            </a:r>
            <a:endParaRPr lang="en-US" sz="1200" dirty="0"/>
          </a:p>
        </p:txBody>
      </p:sp>
      <p:sp>
        <p:nvSpPr>
          <p:cNvPr id="25" name="card-76"/>
          <p:cNvSpPr/>
          <p:nvPr/>
        </p:nvSpPr>
        <p:spPr>
          <a:xfrm>
            <a:off x="5806440" y="4005072"/>
            <a:ext cx="1371600" cy="548640"/>
          </a:xfrm>
          <a:prstGeom prst="roundRect">
            <a:avLst>
              <a:gd name="adj" fmla="val 13333"/>
            </a:avLst>
          </a:prstGeom>
          <a:solidFill>
            <a:schemeClr val="bg2"/>
          </a:solidFill>
          <a:ln/>
        </p:spPr>
      </p:sp>
      <p:sp>
        <p:nvSpPr>
          <p:cNvPr id="26" name="param-k-77"/>
          <p:cNvSpPr txBox="1"/>
          <p:nvPr/>
        </p:nvSpPr>
        <p:spPr>
          <a:xfrm>
            <a:off x="5897880" y="405993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pre-emphasis</a:t>
            </a:r>
            <a:endParaRPr lang="en-US" sz="1000" dirty="0"/>
          </a:p>
        </p:txBody>
      </p:sp>
      <p:sp>
        <p:nvSpPr>
          <p:cNvPr id="27" name="param-v-78"/>
          <p:cNvSpPr txBox="1"/>
          <p:nvPr/>
        </p:nvSpPr>
        <p:spPr>
          <a:xfrm>
            <a:off x="5897880" y="4261104"/>
            <a:ext cx="1188720" cy="237744"/>
          </a:xfrm>
          <a:prstGeom prst="rect">
            <a:avLst/>
          </a:prstGeom>
          <a:noFill/>
          <a:ln/>
        </p:spPr>
        <p:txBody>
          <a:bodyPr wrap="square" lIns="0" tIns="0" rIns="0" bIns="0" rtlCol="0" anchor="t"/>
          <a:lstStyle/>
          <a:p>
            <a:pPr indent="0" marL="0">
              <a:buNone/>
            </a:pPr>
            <a:r>
              <a:rPr lang="en-US" sz="1200" b="1" dirty="0">
                <a:solidFill>
                  <a:schemeClr val="tx1"/>
                </a:solidFill>
              </a:rPr>
              <a:t>0.97</a:t>
            </a:r>
            <a:endParaRPr lang="en-US" sz="1200" dirty="0"/>
          </a:p>
        </p:txBody>
      </p:sp>
      <p:sp>
        <p:nvSpPr>
          <p:cNvPr id="28" name="card-79"/>
          <p:cNvSpPr/>
          <p:nvPr/>
        </p:nvSpPr>
        <p:spPr>
          <a:xfrm>
            <a:off x="7269480" y="4005072"/>
            <a:ext cx="1371600" cy="548640"/>
          </a:xfrm>
          <a:prstGeom prst="roundRect">
            <a:avLst>
              <a:gd name="adj" fmla="val 13333"/>
            </a:avLst>
          </a:prstGeom>
          <a:solidFill>
            <a:schemeClr val="bg2"/>
          </a:solidFill>
          <a:ln/>
        </p:spPr>
      </p:sp>
      <p:sp>
        <p:nvSpPr>
          <p:cNvPr id="29" name="param-k-80"/>
          <p:cNvSpPr txBox="1"/>
          <p:nvPr/>
        </p:nvSpPr>
        <p:spPr>
          <a:xfrm>
            <a:off x="7360920" y="4059936"/>
            <a:ext cx="1188720" cy="182880"/>
          </a:xfrm>
          <a:prstGeom prst="rect">
            <a:avLst/>
          </a:prstGeom>
          <a:noFill/>
          <a:ln/>
        </p:spPr>
        <p:txBody>
          <a:bodyPr wrap="square" lIns="0" tIns="0" rIns="0" bIns="0" rtlCol="0" anchor="t"/>
          <a:lstStyle/>
          <a:p>
            <a:pPr indent="0" marL="0">
              <a:buNone/>
            </a:pPr>
            <a:r>
              <a:rPr lang="en-US" sz="1000" b="1" dirty="0">
                <a:solidFill>
                  <a:schemeClr val="accent3"/>
                </a:solidFill>
              </a:rPr>
              <a:t>log-dB norm.</a:t>
            </a:r>
            <a:endParaRPr lang="en-US" sz="1000" dirty="0"/>
          </a:p>
        </p:txBody>
      </p:sp>
      <p:sp>
        <p:nvSpPr>
          <p:cNvPr id="30" name="param-v-81"/>
          <p:cNvSpPr txBox="1"/>
          <p:nvPr/>
        </p:nvSpPr>
        <p:spPr>
          <a:xfrm>
            <a:off x="7360920" y="4261104"/>
            <a:ext cx="1188720" cy="237744"/>
          </a:xfrm>
          <a:prstGeom prst="rect">
            <a:avLst/>
          </a:prstGeom>
          <a:noFill/>
          <a:ln/>
        </p:spPr>
        <p:txBody>
          <a:bodyPr wrap="square" lIns="0" tIns="0" rIns="0" bIns="0" rtlCol="0" anchor="t"/>
          <a:lstStyle/>
          <a:p>
            <a:pPr indent="0" marL="0">
              <a:buNone/>
            </a:pPr>
            <a:r>
              <a:rPr lang="en-US" sz="1200" b="1" dirty="0">
                <a:solidFill>
                  <a:schemeClr val="tx1"/>
                </a:solidFill>
              </a:rPr>
              <a:t>scaled to [0, 1]</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The three reproduced models</a:t>
            </a:r>
            <a:endParaRPr lang="en-US" sz="2800" dirty="0"/>
          </a:p>
        </p:txBody>
      </p:sp>
      <p:sp>
        <p:nvSpPr>
          <p:cNvPr id="3" name="card-82"/>
          <p:cNvSpPr/>
          <p:nvPr/>
        </p:nvSpPr>
        <p:spPr>
          <a:xfrm>
            <a:off x="457200" y="1005840"/>
            <a:ext cx="4160520" cy="1069848"/>
          </a:xfrm>
          <a:prstGeom prst="roundRect">
            <a:avLst>
              <a:gd name="adj" fmla="val 6838"/>
            </a:avLst>
          </a:prstGeom>
          <a:solidFill>
            <a:schemeClr val="bg2"/>
          </a:solidFill>
          <a:ln/>
        </p:spPr>
      </p:sp>
      <p:sp>
        <p:nvSpPr>
          <p:cNvPr id="4" name="badge-83"/>
          <p:cNvSpPr/>
          <p:nvPr/>
        </p:nvSpPr>
        <p:spPr>
          <a:xfrm>
            <a:off x="621792" y="1170432"/>
            <a:ext cx="384048" cy="384048"/>
          </a:xfrm>
          <a:prstGeom prst="ellipse">
            <a:avLst/>
          </a:prstGeom>
          <a:solidFill>
            <a:schemeClr val="accent3"/>
          </a:solidFill>
          <a:ln/>
        </p:spPr>
      </p:sp>
      <p:sp>
        <p:nvSpPr>
          <p:cNvPr id="5" name="badge-label-84"/>
          <p:cNvSpPr txBox="1"/>
          <p:nvPr/>
        </p:nvSpPr>
        <p:spPr>
          <a:xfrm>
            <a:off x="621792" y="11704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row-head-85"/>
          <p:cNvSpPr txBox="1"/>
          <p:nvPr/>
        </p:nvSpPr>
        <p:spPr>
          <a:xfrm>
            <a:off x="1143000" y="114300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SVR (polynomial)</a:t>
            </a:r>
            <a:endParaRPr lang="en-US" sz="1500" dirty="0"/>
          </a:p>
        </p:txBody>
      </p:sp>
      <p:sp>
        <p:nvSpPr>
          <p:cNvPr id="7" name="row-body-86"/>
          <p:cNvSpPr txBox="1"/>
          <p:nvPr/>
        </p:nvSpPr>
        <p:spPr>
          <a:xfrm>
            <a:off x="1143000" y="1463040"/>
            <a:ext cx="3337560" cy="566928"/>
          </a:xfrm>
          <a:prstGeom prst="rect">
            <a:avLst/>
          </a:prstGeom>
          <a:noFill/>
          <a:ln/>
        </p:spPr>
        <p:txBody>
          <a:bodyPr wrap="square" lIns="0" tIns="0" rIns="0" bIns="0" rtlCol="0" anchor="t"/>
          <a:lstStyle/>
          <a:p>
            <a:pPr indent="0" marL="0">
              <a:buNone/>
            </a:pPr>
            <a:r>
              <a:rPr lang="en-US" sz="1150" dirty="0">
                <a:solidFill>
                  <a:schemeClr val="tx1"/>
                </a:solidFill>
              </a:rPr>
              <a:t>One regressor per output frame; predicts the top-16 PCA components of the spectrum (C = 1, ε = 0.2, as in the authors’ code)</a:t>
            </a:r>
            <a:endParaRPr lang="en-US" sz="1150" dirty="0"/>
          </a:p>
        </p:txBody>
      </p:sp>
      <p:sp>
        <p:nvSpPr>
          <p:cNvPr id="8" name="card-87"/>
          <p:cNvSpPr/>
          <p:nvPr/>
        </p:nvSpPr>
        <p:spPr>
          <a:xfrm>
            <a:off x="457200" y="2212848"/>
            <a:ext cx="4160520" cy="1069848"/>
          </a:xfrm>
          <a:prstGeom prst="roundRect">
            <a:avLst>
              <a:gd name="adj" fmla="val 6838"/>
            </a:avLst>
          </a:prstGeom>
          <a:solidFill>
            <a:schemeClr val="bg2"/>
          </a:solidFill>
          <a:ln/>
        </p:spPr>
      </p:sp>
      <p:sp>
        <p:nvSpPr>
          <p:cNvPr id="9" name="badge-88"/>
          <p:cNvSpPr/>
          <p:nvPr/>
        </p:nvSpPr>
        <p:spPr>
          <a:xfrm>
            <a:off x="621792" y="2377440"/>
            <a:ext cx="384048" cy="384048"/>
          </a:xfrm>
          <a:prstGeom prst="ellipse">
            <a:avLst/>
          </a:prstGeom>
          <a:solidFill>
            <a:schemeClr val="accent3"/>
          </a:solidFill>
          <a:ln/>
        </p:spPr>
      </p:sp>
      <p:sp>
        <p:nvSpPr>
          <p:cNvPr id="10" name="badge-label-89"/>
          <p:cNvSpPr txBox="1"/>
          <p:nvPr/>
        </p:nvSpPr>
        <p:spPr>
          <a:xfrm>
            <a:off x="621792" y="2377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row-head-90"/>
          <p:cNvSpPr txBox="1"/>
          <p:nvPr/>
        </p:nvSpPr>
        <p:spPr>
          <a:xfrm>
            <a:off x="1143000" y="2350008"/>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Simple NN</a:t>
            </a:r>
            <a:endParaRPr lang="en-US" sz="1500" dirty="0"/>
          </a:p>
        </p:txBody>
      </p:sp>
      <p:sp>
        <p:nvSpPr>
          <p:cNvPr id="12" name="row-body-91"/>
          <p:cNvSpPr txBox="1"/>
          <p:nvPr/>
        </p:nvSpPr>
        <p:spPr>
          <a:xfrm>
            <a:off x="1143000" y="2670048"/>
            <a:ext cx="3337560" cy="566928"/>
          </a:xfrm>
          <a:prstGeom prst="rect">
            <a:avLst/>
          </a:prstGeom>
          <a:noFill/>
          <a:ln/>
        </p:spPr>
        <p:txBody>
          <a:bodyPr wrap="square" lIns="0" tIns="0" rIns="0" bIns="0" rtlCol="0" anchor="t"/>
          <a:lstStyle/>
          <a:p>
            <a:pPr indent="0" marL="0">
              <a:buNone/>
            </a:pPr>
            <a:r>
              <a:rPr lang="en-US" sz="1150" dirty="0">
                <a:solidFill>
                  <a:schemeClr val="tx1"/>
                </a:solidFill>
              </a:rPr>
              <a:t>Authors’ MLP: raw symbol IDs → 2 × Dense(width = input, ReLU) → Dense(T × 1025, sigmoid); Adam, MSE, batch 10</a:t>
            </a:r>
            <a:endParaRPr lang="en-US" sz="1150" dirty="0"/>
          </a:p>
        </p:txBody>
      </p:sp>
      <p:sp>
        <p:nvSpPr>
          <p:cNvPr id="13" name="card-92"/>
          <p:cNvSpPr/>
          <p:nvPr/>
        </p:nvSpPr>
        <p:spPr>
          <a:xfrm>
            <a:off x="457200" y="3419856"/>
            <a:ext cx="4160520" cy="1069848"/>
          </a:xfrm>
          <a:prstGeom prst="roundRect">
            <a:avLst>
              <a:gd name="adj" fmla="val 6838"/>
            </a:avLst>
          </a:prstGeom>
          <a:solidFill>
            <a:schemeClr val="bg2"/>
          </a:solidFill>
          <a:ln/>
        </p:spPr>
      </p:sp>
      <p:sp>
        <p:nvSpPr>
          <p:cNvPr id="14" name="badge-93"/>
          <p:cNvSpPr/>
          <p:nvPr/>
        </p:nvSpPr>
        <p:spPr>
          <a:xfrm>
            <a:off x="621792" y="3584448"/>
            <a:ext cx="384048" cy="384048"/>
          </a:xfrm>
          <a:prstGeom prst="ellipse">
            <a:avLst/>
          </a:prstGeom>
          <a:solidFill>
            <a:schemeClr val="accent3"/>
          </a:solidFill>
          <a:ln/>
        </p:spPr>
      </p:sp>
      <p:sp>
        <p:nvSpPr>
          <p:cNvPr id="15" name="badge-label-94"/>
          <p:cNvSpPr txBox="1"/>
          <p:nvPr/>
        </p:nvSpPr>
        <p:spPr>
          <a:xfrm>
            <a:off x="621792" y="3584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row-head-95"/>
          <p:cNvSpPr txBox="1"/>
          <p:nvPr/>
        </p:nvSpPr>
        <p:spPr>
          <a:xfrm>
            <a:off x="1143000" y="3557016"/>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Seq2Seq + attention</a:t>
            </a:r>
            <a:endParaRPr lang="en-US" sz="1500" dirty="0"/>
          </a:p>
        </p:txBody>
      </p:sp>
      <p:sp>
        <p:nvSpPr>
          <p:cNvPr id="17" name="row-body-96"/>
          <p:cNvSpPr txBox="1"/>
          <p:nvPr/>
        </p:nvSpPr>
        <p:spPr>
          <a:xfrm>
            <a:off x="1143000" y="3877056"/>
            <a:ext cx="3337560" cy="566928"/>
          </a:xfrm>
          <a:prstGeom prst="rect">
            <a:avLst/>
          </a:prstGeom>
          <a:noFill/>
          <a:ln/>
        </p:spPr>
        <p:txBody>
          <a:bodyPr wrap="square" lIns="0" tIns="0" rIns="0" bIns="0" rtlCol="0" anchor="t"/>
          <a:lstStyle/>
          <a:p>
            <a:pPr indent="0" marL="0">
              <a:buNone/>
            </a:pPr>
            <a:r>
              <a:rPr lang="en-US" sz="1150" dirty="0">
                <a:solidFill>
                  <a:schemeClr val="tx1"/>
                </a:solidFill>
              </a:rPr>
              <a:t>BiLSTM encoder → LSTM decoder with Bahdanau attention; teacher forcing; autoregressive stop at 1.2 × longest train target</a:t>
            </a:r>
            <a:endParaRPr lang="en-US" sz="1150" dirty="0"/>
          </a:p>
        </p:txBody>
      </p:sp>
      <p:pic>
        <p:nvPicPr>
          <p:cNvPr id="18" name="figure-97" descr="Training loss curves on a log scale for NN (MSE), Seq2Seq (L1) and DCTTS Text2Mel loss">    </p:cNvPr>
          <p:cNvPicPr>
            <a:picLocks noChangeAspect="1"/>
          </p:cNvPicPr>
          <p:nvPr/>
        </p:nvPicPr>
        <p:blipFill>
          <a:blip r:embed="rId1"/>
          <a:stretch>
            <a:fillRect/>
          </a:stretch>
        </p:blipFill>
        <p:spPr>
          <a:xfrm>
            <a:off x="4846320" y="1051560"/>
            <a:ext cx="3840480" cy="2194560"/>
          </a:xfrm>
          <a:prstGeom prst="rect">
            <a:avLst/>
          </a:prstGeom>
        </p:spPr>
      </p:pic>
      <p:sp>
        <p:nvSpPr>
          <p:cNvPr id="19" name="caption-98"/>
          <p:cNvSpPr txBox="1"/>
          <p:nvPr/>
        </p:nvSpPr>
        <p:spPr>
          <a:xfrm>
            <a:off x="4846320" y="3291840"/>
            <a:ext cx="3840480" cy="274320"/>
          </a:xfrm>
          <a:prstGeom prst="rect">
            <a:avLst/>
          </a:prstGeom>
          <a:noFill/>
          <a:ln/>
        </p:spPr>
        <p:txBody>
          <a:bodyPr wrap="square" lIns="0" tIns="0" rIns="0" bIns="0" rtlCol="0" anchor="t"/>
          <a:lstStyle/>
          <a:p>
            <a:pPr algn="l" indent="0" marL="0">
              <a:buNone/>
            </a:pPr>
            <a:r>
              <a:rPr lang="en-US" sz="1000" i="1" dirty="0">
                <a:solidFill>
                  <a:schemeClr val="accent5"/>
                </a:solidFill>
              </a:rPr>
              <a:t>Training losses (log scale); runs are time-boxed with checkpoints</a:t>
            </a:r>
            <a:endParaRPr lang="en-US" sz="1000" dirty="0"/>
          </a:p>
        </p:txBody>
      </p:sp>
      <p:sp>
        <p:nvSpPr>
          <p:cNvPr id="20" name="card-99"/>
          <p:cNvSpPr/>
          <p:nvPr/>
        </p:nvSpPr>
        <p:spPr>
          <a:xfrm>
            <a:off x="4846320" y="3703320"/>
            <a:ext cx="3840480" cy="868680"/>
          </a:xfrm>
          <a:prstGeom prst="roundRect">
            <a:avLst>
              <a:gd name="adj" fmla="val 8421"/>
            </a:avLst>
          </a:prstGeom>
          <a:solidFill>
            <a:schemeClr val="bg2"/>
          </a:solidFill>
          <a:ln/>
        </p:spPr>
      </p:sp>
      <p:sp>
        <p:nvSpPr>
          <p:cNvPr id="21" name="deviation-100"/>
          <p:cNvSpPr txBox="1"/>
          <p:nvPr/>
        </p:nvSpPr>
        <p:spPr>
          <a:xfrm>
            <a:off x="4983480" y="3767328"/>
            <a:ext cx="3566160" cy="749808"/>
          </a:xfrm>
          <a:prstGeom prst="rect">
            <a:avLst/>
          </a:prstGeom>
          <a:noFill/>
          <a:ln/>
        </p:spPr>
        <p:txBody>
          <a:bodyPr wrap="square" lIns="0" tIns="0" rIns="0" bIns="0" rtlCol="0" anchor="ctr"/>
          <a:lstStyle/>
          <a:p>
            <a:pPr indent="0" marL="0">
              <a:buNone/>
            </a:pPr>
            <a:r>
              <a:rPr lang="en-US" sz="1150" b="1" dirty="0">
                <a:solidFill>
                  <a:schemeClr val="tx1"/>
                </a:solidFill>
              </a:rPr>
              <a:t>CPU deviations: </a:t>
            </a:r>
            <a:r>
              <a:rPr lang="en-US" sz="1150" dirty="0">
                <a:solidFill>
                  <a:schemeClr val="tx1"/>
                </a:solidFill>
              </a:rPr>
              <a:t>SVR fits PCA components instead of 1025 bins; Seq2Seq latent 512 → 256; linear-kernel SVR iteration-capped</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Evaluation — honest about MOS</a:t>
            </a:r>
            <a:endParaRPr lang="en-US" sz="2800" dirty="0"/>
          </a:p>
        </p:txBody>
      </p:sp>
      <p:sp>
        <p:nvSpPr>
          <p:cNvPr id="3" name="card-101"/>
          <p:cNvSpPr/>
          <p:nvPr/>
        </p:nvSpPr>
        <p:spPr>
          <a:xfrm>
            <a:off x="457200" y="1005840"/>
            <a:ext cx="3840480" cy="3520440"/>
          </a:xfrm>
          <a:prstGeom prst="roundRect">
            <a:avLst>
              <a:gd name="adj" fmla="val 2078"/>
            </a:avLst>
          </a:prstGeom>
          <a:solidFill>
            <a:schemeClr val="tx2"/>
          </a:solidFill>
          <a:ln/>
        </p:spPr>
      </p:sp>
      <p:sp>
        <p:nvSpPr>
          <p:cNvPr id="4" name="label-102"/>
          <p:cNvSpPr txBox="1"/>
          <p:nvPr/>
        </p:nvSpPr>
        <p:spPr>
          <a:xfrm>
            <a:off x="685800" y="1188720"/>
            <a:ext cx="338328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PERCEPTUAL</a:t>
            </a:r>
            <a:endParaRPr lang="en-US" sz="1100" dirty="0"/>
          </a:p>
        </p:txBody>
      </p:sp>
      <p:sp>
        <p:nvSpPr>
          <p:cNvPr id="5" name="card-head-103"/>
          <p:cNvSpPr txBox="1"/>
          <p:nvPr/>
        </p:nvSpPr>
        <p:spPr>
          <a:xfrm>
            <a:off x="685800" y="1463040"/>
            <a:ext cx="3383280" cy="548640"/>
          </a:xfrm>
          <a:prstGeom prst="rect">
            <a:avLst/>
          </a:prstGeom>
          <a:noFill/>
          <a:ln/>
        </p:spPr>
        <p:txBody>
          <a:bodyPr wrap="square" lIns="0" tIns="0" rIns="0" bIns="0" rtlCol="0" anchor="t"/>
          <a:lstStyle/>
          <a:p>
            <a:pPr indent="0" marL="0">
              <a:buNone/>
            </a:pPr>
            <a:r>
              <a:rPr lang="en-US" sz="1500" b="1" dirty="0">
                <a:solidFill>
                  <a:schemeClr val="bg1"/>
                </a:solidFill>
              </a:rPr>
              <a:t>MOS needs human raters — it can’t be fully automated</a:t>
            </a:r>
            <a:endParaRPr lang="en-US" sz="1500" dirty="0"/>
          </a:p>
        </p:txBody>
      </p:sp>
      <p:sp>
        <p:nvSpPr>
          <p:cNvPr id="6" name="card-body-104"/>
          <p:cNvSpPr txBox="1"/>
          <p:nvPr/>
        </p:nvSpPr>
        <p:spPr>
          <a:xfrm>
            <a:off x="685800" y="2103120"/>
            <a:ext cx="3383280" cy="11887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bg1"/>
                </a:solidFill>
              </a:rPr>
              <a:t>UTMOS</a:t>
            </a:r>
            <a:r>
              <a:rPr lang="en-US" sz="1300" dirty="0">
                <a:solidFill>
                  <a:schemeClr val="bg1"/>
                </a:solidFill>
              </a:rPr>
              <a:t> (neural predicted MOS) — our primary automated column</a:t>
            </a:r>
            <a:endParaRPr lang="en-US" sz="1400" dirty="0"/>
          </a:p>
          <a:p>
            <a:pPr marL="177800" indent="-177800">
              <a:spcAft>
                <a:spcPts val="600"/>
              </a:spcAft>
              <a:buSzPct val="100000"/>
              <a:buChar char="•"/>
            </a:pPr>
            <a:r>
              <a:rPr lang="en-US" sz="1300" b="1" dirty="0">
                <a:solidFill>
                  <a:schemeClr val="bg1"/>
                </a:solidFill>
              </a:rPr>
              <a:t>Optional small human test</a:t>
            </a:r>
            <a:r>
              <a:rPr lang="en-US" sz="1300" dirty="0">
                <a:solidFill>
                  <a:schemeClr val="bg1"/>
                </a:solidFill>
              </a:rPr>
              <a:t> — reported only if collected (paper used n = 10 raters)</a:t>
            </a:r>
            <a:endParaRPr lang="en-US" sz="1400" dirty="0"/>
          </a:p>
        </p:txBody>
      </p:sp>
      <p:sp>
        <p:nvSpPr>
          <p:cNvPr id="7" name="refs-105"/>
          <p:cNvSpPr txBox="1"/>
          <p:nvPr/>
        </p:nvSpPr>
        <p:spPr>
          <a:xfrm>
            <a:off x="685800" y="3429000"/>
            <a:ext cx="3474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4.34</a:t>
            </a:r>
            <a:r>
              <a:rPr lang="en-US" sz="1100" dirty="0">
                <a:solidFill>
                  <a:schemeClr val="bg1"/>
                </a:solidFill>
              </a:rPr>
              <a:t>  ground truth     </a:t>
            </a:r>
            <a:r>
              <a:rPr lang="en-US" sz="2600" b="1" dirty="0">
                <a:solidFill>
                  <a:schemeClr val="accent2"/>
                </a:solidFill>
                <a:latin typeface="Cambria" pitchFamily="34" charset="0"/>
                <a:ea typeface="Cambria" pitchFamily="34" charset="-122"/>
                <a:cs typeface="Cambria" pitchFamily="34" charset="-120"/>
              </a:rPr>
              <a:t>3.01</a:t>
            </a:r>
            <a:r>
              <a:rPr lang="en-US" sz="1100" dirty="0">
                <a:solidFill>
                  <a:schemeClr val="bg1"/>
                </a:solidFill>
              </a:rPr>
              <a:t>  GT + Griffin-Lim</a:t>
            </a:r>
            <a:endParaRPr lang="en-US" sz="1400" dirty="0"/>
          </a:p>
        </p:txBody>
      </p:sp>
      <p:sp>
        <p:nvSpPr>
          <p:cNvPr id="8" name="note-106"/>
          <p:cNvSpPr txBox="1"/>
          <p:nvPr/>
        </p:nvSpPr>
        <p:spPr>
          <a:xfrm>
            <a:off x="685800" y="3931920"/>
            <a:ext cx="3383280" cy="457200"/>
          </a:xfrm>
          <a:prstGeom prst="rect">
            <a:avLst/>
          </a:prstGeom>
          <a:noFill/>
          <a:ln/>
        </p:spPr>
        <p:txBody>
          <a:bodyPr wrap="square" lIns="0" tIns="0" rIns="0" bIns="0" rtlCol="0" anchor="t"/>
          <a:lstStyle/>
          <a:p>
            <a:pPr indent="0" marL="0">
              <a:buNone/>
            </a:pPr>
            <a:r>
              <a:rPr lang="en-US" sz="1100" i="1" dirty="0">
                <a:solidFill>
                  <a:schemeClr val="bg2"/>
                </a:solidFill>
              </a:rPr>
              <a:t>UTMOS references: Griffin-Lim alone caps quality at 3.01</a:t>
            </a:r>
            <a:endParaRPr lang="en-US" sz="1100" dirty="0"/>
          </a:p>
        </p:txBody>
      </p:sp>
      <p:sp>
        <p:nvSpPr>
          <p:cNvPr id="9" name="label-107"/>
          <p:cNvSpPr txBox="1"/>
          <p:nvPr/>
        </p:nvSpPr>
        <p:spPr>
          <a:xfrm>
            <a:off x="4572000" y="1005840"/>
            <a:ext cx="411480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OBJECTIVE  ·  25 HELD-OUT TEST CLIPS</a:t>
            </a:r>
            <a:endParaRPr lang="en-US" sz="1100" dirty="0"/>
          </a:p>
        </p:txBody>
      </p:sp>
      <p:sp>
        <p:nvSpPr>
          <p:cNvPr id="10" name="card-108"/>
          <p:cNvSpPr/>
          <p:nvPr/>
        </p:nvSpPr>
        <p:spPr>
          <a:xfrm>
            <a:off x="4572000" y="1325880"/>
            <a:ext cx="4114800" cy="960120"/>
          </a:xfrm>
          <a:prstGeom prst="roundRect">
            <a:avLst>
              <a:gd name="adj" fmla="val 7619"/>
            </a:avLst>
          </a:prstGeom>
          <a:solidFill>
            <a:schemeClr val="bg2"/>
          </a:solidFill>
          <a:ln/>
        </p:spPr>
      </p:sp>
      <p:sp>
        <p:nvSpPr>
          <p:cNvPr id="11" name="metric-109"/>
          <p:cNvSpPr txBox="1"/>
          <p:nvPr/>
        </p:nvSpPr>
        <p:spPr>
          <a:xfrm>
            <a:off x="4754880" y="1435608"/>
            <a:ext cx="3108960" cy="292608"/>
          </a:xfrm>
          <a:prstGeom prst="rect">
            <a:avLst/>
          </a:prstGeom>
          <a:noFill/>
          <a:ln/>
        </p:spPr>
        <p:txBody>
          <a:bodyPr wrap="square" lIns="0" tIns="0" rIns="0" bIns="0" rtlCol="0" anchor="t"/>
          <a:lstStyle/>
          <a:p>
            <a:pPr indent="0" marL="0">
              <a:buNone/>
            </a:pPr>
            <a:r>
              <a:rPr lang="en-US" sz="1500" b="1" dirty="0">
                <a:solidFill>
                  <a:schemeClr val="tx1"/>
                </a:solidFill>
              </a:rPr>
              <a:t>MCD</a:t>
            </a:r>
            <a:endParaRPr lang="en-US" sz="1500" dirty="0"/>
          </a:p>
        </p:txBody>
      </p:sp>
      <p:sp>
        <p:nvSpPr>
          <p:cNvPr id="12" name="metric-desc-110"/>
          <p:cNvSpPr txBox="1"/>
          <p:nvPr/>
        </p:nvSpPr>
        <p:spPr>
          <a:xfrm>
            <a:off x="4754880" y="1737360"/>
            <a:ext cx="3291840" cy="502920"/>
          </a:xfrm>
          <a:prstGeom prst="rect">
            <a:avLst/>
          </a:prstGeom>
          <a:noFill/>
          <a:ln/>
        </p:spPr>
        <p:txBody>
          <a:bodyPr wrap="square" lIns="0" tIns="0" rIns="0" bIns="0" rtlCol="0" anchor="t"/>
          <a:lstStyle/>
          <a:p>
            <a:pPr indent="0" marL="0">
              <a:buNone/>
            </a:pPr>
            <a:r>
              <a:rPr lang="en-US" sz="1200" dirty="0">
                <a:solidFill>
                  <a:schemeClr val="tx1"/>
                </a:solidFill>
              </a:rPr>
              <a:t>Mel-cepstral distortion, aligned with DTW</a:t>
            </a:r>
            <a:endParaRPr lang="en-US" sz="1200" dirty="0"/>
          </a:p>
        </p:txBody>
      </p:sp>
      <p:sp>
        <p:nvSpPr>
          <p:cNvPr id="13" name="dir-111"/>
          <p:cNvSpPr txBox="1"/>
          <p:nvPr/>
        </p:nvSpPr>
        <p:spPr>
          <a:xfrm>
            <a:off x="7726680" y="1435608"/>
            <a:ext cx="822960" cy="292608"/>
          </a:xfrm>
          <a:prstGeom prst="rect">
            <a:avLst/>
          </a:prstGeom>
          <a:noFill/>
          <a:ln/>
        </p:spPr>
        <p:txBody>
          <a:bodyPr wrap="square" lIns="0" tIns="0" rIns="0" bIns="0" rtlCol="0" anchor="t"/>
          <a:lstStyle/>
          <a:p>
            <a:pPr algn="r" indent="0" marL="0">
              <a:buNone/>
            </a:pPr>
            <a:r>
              <a:rPr lang="en-US" sz="1100" b="1" dirty="0">
                <a:solidFill>
                  <a:schemeClr val="accent4"/>
                </a:solidFill>
              </a:rPr>
              <a:t>↓ better</a:t>
            </a:r>
            <a:endParaRPr lang="en-US" sz="1100" dirty="0"/>
          </a:p>
        </p:txBody>
      </p:sp>
      <p:sp>
        <p:nvSpPr>
          <p:cNvPr id="14" name="card-112"/>
          <p:cNvSpPr/>
          <p:nvPr/>
        </p:nvSpPr>
        <p:spPr>
          <a:xfrm>
            <a:off x="4572000" y="2404872"/>
            <a:ext cx="4114800" cy="960120"/>
          </a:xfrm>
          <a:prstGeom prst="roundRect">
            <a:avLst>
              <a:gd name="adj" fmla="val 7619"/>
            </a:avLst>
          </a:prstGeom>
          <a:solidFill>
            <a:schemeClr val="bg2"/>
          </a:solidFill>
          <a:ln/>
        </p:spPr>
      </p:sp>
      <p:sp>
        <p:nvSpPr>
          <p:cNvPr id="15" name="metric-113"/>
          <p:cNvSpPr txBox="1"/>
          <p:nvPr/>
        </p:nvSpPr>
        <p:spPr>
          <a:xfrm>
            <a:off x="4754880" y="2514600"/>
            <a:ext cx="3108960" cy="292608"/>
          </a:xfrm>
          <a:prstGeom prst="rect">
            <a:avLst/>
          </a:prstGeom>
          <a:noFill/>
          <a:ln/>
        </p:spPr>
        <p:txBody>
          <a:bodyPr wrap="square" lIns="0" tIns="0" rIns="0" bIns="0" rtlCol="0" anchor="t"/>
          <a:lstStyle/>
          <a:p>
            <a:pPr indent="0" marL="0">
              <a:buNone/>
            </a:pPr>
            <a:r>
              <a:rPr lang="en-US" sz="1500" b="1" dirty="0">
                <a:solidFill>
                  <a:schemeClr val="tx1"/>
                </a:solidFill>
              </a:rPr>
              <a:t>CER / WER</a:t>
            </a:r>
            <a:endParaRPr lang="en-US" sz="1500" dirty="0"/>
          </a:p>
        </p:txBody>
      </p:sp>
      <p:sp>
        <p:nvSpPr>
          <p:cNvPr id="16" name="metric-desc-114"/>
          <p:cNvSpPr txBox="1"/>
          <p:nvPr/>
        </p:nvSpPr>
        <p:spPr>
          <a:xfrm>
            <a:off x="4754880" y="2816352"/>
            <a:ext cx="3291840" cy="502920"/>
          </a:xfrm>
          <a:prstGeom prst="rect">
            <a:avLst/>
          </a:prstGeom>
          <a:noFill/>
          <a:ln/>
        </p:spPr>
        <p:txBody>
          <a:bodyPr wrap="square" lIns="0" tIns="0" rIns="0" bIns="0" rtlCol="0" anchor="t"/>
          <a:lstStyle/>
          <a:p>
            <a:pPr indent="0" marL="0">
              <a:buNone/>
            </a:pPr>
            <a:r>
              <a:rPr lang="en-US" sz="1200" dirty="0">
                <a:solidFill>
                  <a:schemeClr val="tx1"/>
                </a:solidFill>
              </a:rPr>
              <a:t>Whisper ASR transcribes our audio — a direct proxy for repeated or missing words</a:t>
            </a:r>
            <a:endParaRPr lang="en-US" sz="1200" dirty="0"/>
          </a:p>
        </p:txBody>
      </p:sp>
      <p:sp>
        <p:nvSpPr>
          <p:cNvPr id="17" name="dir-115"/>
          <p:cNvSpPr txBox="1"/>
          <p:nvPr/>
        </p:nvSpPr>
        <p:spPr>
          <a:xfrm>
            <a:off x="7726680" y="2514600"/>
            <a:ext cx="822960" cy="292608"/>
          </a:xfrm>
          <a:prstGeom prst="rect">
            <a:avLst/>
          </a:prstGeom>
          <a:noFill/>
          <a:ln/>
        </p:spPr>
        <p:txBody>
          <a:bodyPr wrap="square" lIns="0" tIns="0" rIns="0" bIns="0" rtlCol="0" anchor="t"/>
          <a:lstStyle/>
          <a:p>
            <a:pPr algn="r" indent="0" marL="0">
              <a:buNone/>
            </a:pPr>
            <a:r>
              <a:rPr lang="en-US" sz="1100" b="1" dirty="0">
                <a:solidFill>
                  <a:schemeClr val="accent4"/>
                </a:solidFill>
              </a:rPr>
              <a:t>↓ better</a:t>
            </a:r>
            <a:endParaRPr lang="en-US" sz="1100" dirty="0"/>
          </a:p>
        </p:txBody>
      </p:sp>
      <p:sp>
        <p:nvSpPr>
          <p:cNvPr id="18" name="card-116"/>
          <p:cNvSpPr/>
          <p:nvPr/>
        </p:nvSpPr>
        <p:spPr>
          <a:xfrm>
            <a:off x="4572000" y="3483864"/>
            <a:ext cx="4114800" cy="960120"/>
          </a:xfrm>
          <a:prstGeom prst="roundRect">
            <a:avLst>
              <a:gd name="adj" fmla="val 7619"/>
            </a:avLst>
          </a:prstGeom>
          <a:solidFill>
            <a:schemeClr val="bg2"/>
          </a:solidFill>
          <a:ln/>
        </p:spPr>
      </p:sp>
      <p:sp>
        <p:nvSpPr>
          <p:cNvPr id="19" name="metric-117"/>
          <p:cNvSpPr txBox="1"/>
          <p:nvPr/>
        </p:nvSpPr>
        <p:spPr>
          <a:xfrm>
            <a:off x="4754880" y="3593592"/>
            <a:ext cx="3108960" cy="292608"/>
          </a:xfrm>
          <a:prstGeom prst="rect">
            <a:avLst/>
          </a:prstGeom>
          <a:noFill/>
          <a:ln/>
        </p:spPr>
        <p:txBody>
          <a:bodyPr wrap="square" lIns="0" tIns="0" rIns="0" bIns="0" rtlCol="0" anchor="t"/>
          <a:lstStyle/>
          <a:p>
            <a:pPr indent="0" marL="0">
              <a:buNone/>
            </a:pPr>
            <a:r>
              <a:rPr lang="en-US" sz="1500" b="1" dirty="0">
                <a:solidFill>
                  <a:schemeClr val="tx1"/>
                </a:solidFill>
              </a:rPr>
              <a:t>Spectrogram L1</a:t>
            </a:r>
            <a:endParaRPr lang="en-US" sz="1500" dirty="0"/>
          </a:p>
        </p:txBody>
      </p:sp>
      <p:sp>
        <p:nvSpPr>
          <p:cNvPr id="20" name="metric-desc-118"/>
          <p:cNvSpPr txBox="1"/>
          <p:nvPr/>
        </p:nvSpPr>
        <p:spPr>
          <a:xfrm>
            <a:off x="4754880" y="3895344"/>
            <a:ext cx="3291840" cy="502920"/>
          </a:xfrm>
          <a:prstGeom prst="rect">
            <a:avLst/>
          </a:prstGeom>
          <a:noFill/>
          <a:ln/>
        </p:spPr>
        <p:txBody>
          <a:bodyPr wrap="square" lIns="0" tIns="0" rIns="0" bIns="0" rtlCol="0" anchor="t"/>
          <a:lstStyle/>
          <a:p>
            <a:pPr indent="0" marL="0">
              <a:buNone/>
            </a:pPr>
            <a:r>
              <a:rPr lang="en-US" sz="1200" dirty="0">
                <a:solidFill>
                  <a:schemeClr val="tx1"/>
                </a:solidFill>
              </a:rPr>
              <a:t>Frame-wise distance to the ground-truth spectrogram</a:t>
            </a:r>
            <a:endParaRPr lang="en-US" sz="1200" dirty="0"/>
          </a:p>
        </p:txBody>
      </p:sp>
      <p:sp>
        <p:nvSpPr>
          <p:cNvPr id="21" name="dir-119"/>
          <p:cNvSpPr txBox="1"/>
          <p:nvPr/>
        </p:nvSpPr>
        <p:spPr>
          <a:xfrm>
            <a:off x="7726680" y="3593592"/>
            <a:ext cx="822960" cy="292608"/>
          </a:xfrm>
          <a:prstGeom prst="rect">
            <a:avLst/>
          </a:prstGeom>
          <a:noFill/>
          <a:ln/>
        </p:spPr>
        <p:txBody>
          <a:bodyPr wrap="square" lIns="0" tIns="0" rIns="0" bIns="0" rtlCol="0" anchor="t"/>
          <a:lstStyle/>
          <a:p>
            <a:pPr algn="r" indent="0" marL="0">
              <a:buNone/>
            </a:pPr>
            <a:r>
              <a:rPr lang="en-US" sz="1100" b="1" dirty="0">
                <a:solidFill>
                  <a:schemeClr val="accent4"/>
                </a:solidFill>
              </a:rPr>
              <a:t>↓ better</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Reported vs ours</a:t>
            </a:r>
            <a:endParaRPr lang="en-US" sz="2800" dirty="0"/>
          </a:p>
        </p:txBody>
      </p:sp>
      <p:graphicFrame>
        <p:nvGraphicFramePr>
          <p:cNvPr id="8" name="results-table"/>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514600"/>
                <a:gridCol w="1143000"/>
                <a:gridCol w="822960"/>
                <a:gridCol w="868680"/>
                <a:gridCol w="868680"/>
                <a:gridCol w="868680"/>
                <a:gridCol w="1143000"/>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Reported MOS (paper)</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UTMOS ↑</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MCD ↓</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CER ↓</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WER ↓</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spec L1 ↓</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3D2466"/>
                    </a:solidFill>
                  </a:tcPr>
                </a:tc>
              </a:tr>
              <a:tr h="301752">
                <a:tc>
                  <a:txBody>
                    <a:bodyPr/>
                    <a:lstStyle/>
                    <a:p>
                      <a:pPr algn="l" indent="0" marL="0">
                        <a:buNone/>
                      </a:pPr>
                      <a:r>
                        <a:rPr lang="en-US" sz="1200" i="1" dirty="0">
                          <a:solidFill>
                            <a:srgbClr val="6B6478"/>
                          </a:solidFill>
                          <a:latin typeface="Calibri" pitchFamily="34" charset="0"/>
                          <a:ea typeface="Calibri" pitchFamily="34" charset="-122"/>
                          <a:cs typeface="Calibri" pitchFamily="34" charset="-120"/>
                        </a:rPr>
                        <a:t>Ground truth (ref)</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4.34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0.040</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0.052</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i="1" dirty="0">
                          <a:solidFill>
                            <a:srgbClr val="6B6478"/>
                          </a:solidFill>
                          <a:latin typeface="Calibri" pitchFamily="34" charset="0"/>
                          <a:ea typeface="Calibri" pitchFamily="34" charset="-122"/>
                          <a:cs typeface="Calibri" pitchFamily="34" charset="-120"/>
                        </a:rPr>
                        <a:t>GT + Griffin-Lim (vocoder ceiling, ref)</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3.01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23.16</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0.041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0.055</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i="1" dirty="0">
                          <a:solidFill>
                            <a:srgbClr val="6B64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A1033"/>
                          </a:solidFill>
                          <a:latin typeface="Calibri" pitchFamily="34" charset="0"/>
                          <a:ea typeface="Calibri" pitchFamily="34" charset="-122"/>
                          <a:cs typeface="Calibri" pitchFamily="34" charset="-120"/>
                        </a:rPr>
                        <a:t>SVR (poly)</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1.31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42.41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0.834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0.985</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0.161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A1033"/>
                          </a:solidFill>
                          <a:latin typeface="Calibri" pitchFamily="34" charset="0"/>
                          <a:ea typeface="Calibri" pitchFamily="34" charset="-122"/>
                          <a:cs typeface="Calibri" pitchFamily="34" charset="-120"/>
                        </a:rPr>
                        <a:t>SVR (linear)</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53.03</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0.891</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0.993</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0.213</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A1033"/>
                          </a:solidFill>
                          <a:latin typeface="Calibri" pitchFamily="34" charset="0"/>
                          <a:ea typeface="Calibri" pitchFamily="34" charset="-122"/>
                          <a:cs typeface="Calibri" pitchFamily="34" charset="-120"/>
                        </a:rPr>
                        <a:t>Simple NN</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40.99</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0.934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0.996</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0.157</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A1033"/>
                          </a:solidFill>
                          <a:latin typeface="Calibri" pitchFamily="34" charset="0"/>
                          <a:ea typeface="Calibri" pitchFamily="34" charset="-122"/>
                          <a:cs typeface="Calibri" pitchFamily="34" charset="-120"/>
                        </a:rPr>
                        <a:t>Seq2Seq + attention</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4F1F8"/>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51.34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0.929</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0.996</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033"/>
                          </a:solidFill>
                          <a:latin typeface="Calibri" pitchFamily="34" charset="0"/>
                          <a:ea typeface="Calibri" pitchFamily="34" charset="-122"/>
                          <a:cs typeface="Calibri" pitchFamily="34" charset="-120"/>
                        </a:rPr>
                        <a:t>0.169</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FFFFF"/>
                    </a:solidFill>
                  </a:tcPr>
                </a:tc>
              </a:tr>
              <a:tr h="301752">
                <a:tc>
                  <a:txBody>
                    <a:bodyPr/>
                    <a:lstStyle/>
                    <a:p>
                      <a:pPr algn="l" indent="0" marL="0">
                        <a:buNone/>
                      </a:pPr>
                      <a:r>
                        <a:rPr lang="en-US" sz="1200" b="1" dirty="0">
                          <a:solidFill>
                            <a:srgbClr val="1A1033"/>
                          </a:solidFill>
                          <a:latin typeface="Calibri" pitchFamily="34" charset="0"/>
                          <a:ea typeface="Calibri" pitchFamily="34" charset="-122"/>
                          <a:cs typeface="Calibri" pitchFamily="34" charset="-120"/>
                        </a:rPr>
                        <a:t>DCTTS (extension)</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51.44</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0.915</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c>
                  <a:txBody>
                    <a:bodyPr/>
                    <a:lstStyle/>
                    <a:p>
                      <a:pPr algn="ctr" indent="0" marL="0">
                        <a:buNone/>
                      </a:pPr>
                      <a:r>
                        <a:rPr lang="en-US" sz="1200" b="1" dirty="0">
                          <a:solidFill>
                            <a:srgbClr val="1A1033"/>
                          </a:solidFill>
                          <a:latin typeface="Calibri" pitchFamily="34" charset="0"/>
                          <a:ea typeface="Calibri" pitchFamily="34" charset="-122"/>
                          <a:cs typeface="Calibri" pitchFamily="34" charset="-120"/>
                        </a:rPr>
                        <a:t>0.189</a:t>
                      </a:r>
                      <a:endParaRPr lang="en-US" sz="1200" dirty="0">
                        <a:latin typeface="Calibri" charset="0"/>
                        <a:ea typeface="Calibri" charset="0"/>
                        <a:cs typeface="Calibri" charset="0"/>
                      </a:endParaRPr>
                    </a:p>
                  </a:txBody>
                  <a:tcPr marL="73152" marR="73152" marT="27432" marB="27432" anchor="ctr">
                    <a:lnL w="6350" cap="flat" cmpd="sng" algn="ctr">
                      <a:solidFill>
                        <a:srgbClr val="DDD6E6"/>
                      </a:solidFill>
                      <a:prstDash val="solid"/>
                      <a:round/>
                      <a:headEnd type="none" w="med" len="med"/>
                      <a:tailEnd type="none" w="med" len="med"/>
                    </a:lnL>
                    <a:lnR w="6350" cap="flat" cmpd="sng" algn="ctr">
                      <a:solidFill>
                        <a:srgbClr val="DDD6E6"/>
                      </a:solidFill>
                      <a:prstDash val="solid"/>
                      <a:round/>
                      <a:headEnd type="none" w="med" len="med"/>
                      <a:tailEnd type="none" w="med" len="med"/>
                    </a:lnR>
                    <a:lnT w="6350" cap="flat" cmpd="sng" algn="ctr">
                      <a:solidFill>
                        <a:srgbClr val="DDD6E6"/>
                      </a:solidFill>
                      <a:prstDash val="solid"/>
                      <a:round/>
                      <a:headEnd type="none" w="med" len="med"/>
                      <a:tailEnd type="none" w="med" len="med"/>
                    </a:lnT>
                    <a:lnB w="6350" cap="flat" cmpd="sng" algn="ctr">
                      <a:solidFill>
                        <a:srgbClr val="DDD6E6"/>
                      </a:solidFill>
                      <a:prstDash val="solid"/>
                      <a:round/>
                      <a:headEnd type="none" w="med" len="med"/>
                      <a:tailEnd type="none" w="med" len="med"/>
                    </a:lnB>
                    <a:solidFill>
                      <a:srgbClr val="FBE3DF"/>
                    </a:solidFill>
                  </a:tcPr>
                </a:tc>
              </a:tr>
            </a:tbl>
          </a:graphicData>
        </a:graphic>
      </p:graphicFrame>
      <p:sp>
        <p:nvSpPr>
          <p:cNvPr id="4" name="card-120"/>
          <p:cNvSpPr/>
          <p:nvPr/>
        </p:nvSpPr>
        <p:spPr>
          <a:xfrm>
            <a:off x="457200" y="3611880"/>
            <a:ext cx="8229600" cy="868680"/>
          </a:xfrm>
          <a:prstGeom prst="roundRect">
            <a:avLst>
              <a:gd name="adj" fmla="val 8421"/>
            </a:avLst>
          </a:prstGeom>
          <a:solidFill>
            <a:schemeClr val="bg2"/>
          </a:solidFill>
          <a:ln/>
        </p:spPr>
      </p:sp>
      <p:sp>
        <p:nvSpPr>
          <p:cNvPr id="5" name="label-121"/>
          <p:cNvSpPr txBox="1"/>
          <p:nvPr/>
        </p:nvSpPr>
        <p:spPr>
          <a:xfrm>
            <a:off x="640080" y="3703320"/>
            <a:ext cx="1828800"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RANKING CHECK</a:t>
            </a:r>
            <a:endParaRPr lang="en-US" sz="1000" dirty="0"/>
          </a:p>
        </p:txBody>
      </p:sp>
      <p:sp>
        <p:nvSpPr>
          <p:cNvPr id="6" name="rank-paper-122"/>
          <p:cNvSpPr txBox="1"/>
          <p:nvPr/>
        </p:nvSpPr>
        <p:spPr>
          <a:xfrm>
            <a:off x="640080" y="3959352"/>
            <a:ext cx="3931920" cy="411480"/>
          </a:xfrm>
          <a:prstGeom prst="rect">
            <a:avLst/>
          </a:prstGeom>
          <a:noFill/>
          <a:ln/>
        </p:spPr>
        <p:txBody>
          <a:bodyPr wrap="square" lIns="0" tIns="0" rIns="0" bIns="0" rtlCol="0" anchor="ctr"/>
          <a:lstStyle/>
          <a:p>
            <a:pPr indent="0" marL="0">
              <a:buNone/>
            </a:pPr>
            <a:r>
              <a:rPr lang="en-US" sz="1300" dirty="0">
                <a:solidFill>
                  <a:schemeClr val="accent5"/>
                </a:solidFill>
              </a:rPr>
              <a:t>Paper (human MOS):  </a:t>
            </a:r>
            <a:r>
              <a:rPr lang="en-US" sz="1300" b="1" dirty="0">
                <a:solidFill>
                  <a:schemeClr val="tx1"/>
                </a:solidFill>
              </a:rPr>
              <a:t>SVR 1.0 &lt; NN 1.7 &lt; Seq2Seq 2.5</a:t>
            </a:r>
            <a:endParaRPr lang="en-US" sz="1300" dirty="0"/>
          </a:p>
        </p:txBody>
      </p:sp>
      <p:sp>
        <p:nvSpPr>
          <p:cNvPr id="7" name="rank-ours-123"/>
          <p:cNvSpPr txBox="1"/>
          <p:nvPr/>
        </p:nvSpPr>
        <p:spPr>
          <a:xfrm>
            <a:off x="4434840" y="3959352"/>
            <a:ext cx="3520440" cy="411480"/>
          </a:xfrm>
          <a:prstGeom prst="rect">
            <a:avLst/>
          </a:prstGeom>
          <a:noFill/>
          <a:ln/>
        </p:spPr>
        <p:txBody>
          <a:bodyPr wrap="square" lIns="0" tIns="0" rIns="0" bIns="0" rtlCol="0" anchor="ctr"/>
          <a:lstStyle/>
          <a:p>
            <a:pPr indent="0" marL="0">
              <a:buNone/>
            </a:pPr>
            <a:r>
              <a:rPr lang="en-US" sz="1300" dirty="0">
                <a:solidFill>
                  <a:schemeClr val="accent5"/>
                </a:solidFill>
              </a:rPr>
              <a:t>Ours (UTMOS):  </a:t>
            </a:r>
            <a:r>
              <a:rPr lang="en-US" sz="1300" b="1" dirty="0">
                <a:solidFill>
                  <a:schemeClr val="accent1"/>
                </a:solidFill>
              </a:rPr>
              <a:t>SVR 1.31 &lt; NN 1.39 &lt; Seq2Seq 1.63</a:t>
            </a:r>
            <a:endParaRPr lang="en-US" sz="1300" dirty="0"/>
          </a:p>
        </p:txBody>
      </p:sp>
      <p:sp>
        <p:nvSpPr>
          <p:cNvPr id="8" name="badge-124"/>
          <p:cNvSpPr/>
          <p:nvPr/>
        </p:nvSpPr>
        <p:spPr>
          <a:xfrm>
            <a:off x="8046720" y="3858768"/>
            <a:ext cx="457200" cy="457200"/>
          </a:xfrm>
          <a:prstGeom prst="ellipse">
            <a:avLst/>
          </a:prstGeom>
          <a:solidFill>
            <a:schemeClr val="accent4"/>
          </a:solidFill>
          <a:ln/>
        </p:spPr>
      </p:sp>
      <p:sp>
        <p:nvSpPr>
          <p:cNvPr id="9" name="badge-label-125"/>
          <p:cNvSpPr txBox="1"/>
          <p:nvPr/>
        </p:nvSpPr>
        <p:spPr>
          <a:xfrm>
            <a:off x="8046720" y="3858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Extension: DCTTS with guided attention</a:t>
            </a:r>
            <a:endParaRPr lang="en-US" sz="2800" dirty="0"/>
          </a:p>
        </p:txBody>
      </p:sp>
      <p:sp>
        <p:nvSpPr>
          <p:cNvPr id="3" name="sub-126"/>
          <p:cNvSpPr txBox="1"/>
          <p:nvPr/>
        </p:nvSpPr>
        <p:spPr>
          <a:xfrm>
            <a:off x="457200" y="914400"/>
            <a:ext cx="4114800" cy="274320"/>
          </a:xfrm>
          <a:prstGeom prst="rect">
            <a:avLst/>
          </a:prstGeom>
          <a:noFill/>
          <a:ln/>
        </p:spPr>
        <p:txBody>
          <a:bodyPr wrap="square" lIns="0" tIns="0" rIns="0" bIns="0" rtlCol="0" anchor="t"/>
          <a:lstStyle/>
          <a:p>
            <a:pPr indent="0" marL="0">
              <a:buNone/>
            </a:pPr>
            <a:r>
              <a:rPr lang="en-US" sz="1300" dirty="0">
                <a:solidFill>
                  <a:schemeClr val="accent5"/>
                </a:solidFill>
              </a:rPr>
              <a:t>Tachibana et al., 2018 — fully convolutional, two networks</a:t>
            </a:r>
            <a:endParaRPr lang="en-US" sz="1300" dirty="0"/>
          </a:p>
        </p:txBody>
      </p:sp>
      <p:sp>
        <p:nvSpPr>
          <p:cNvPr id="4" name="card-127"/>
          <p:cNvSpPr/>
          <p:nvPr/>
        </p:nvSpPr>
        <p:spPr>
          <a:xfrm>
            <a:off x="457200" y="1325880"/>
            <a:ext cx="3017520" cy="841248"/>
          </a:xfrm>
          <a:prstGeom prst="roundRect">
            <a:avLst>
              <a:gd name="adj" fmla="val 8696"/>
            </a:avLst>
          </a:prstGeom>
          <a:solidFill>
            <a:schemeClr val="tx2"/>
          </a:solidFill>
          <a:ln/>
        </p:spPr>
      </p:sp>
      <p:sp>
        <p:nvSpPr>
          <p:cNvPr id="5" name="box-head-128"/>
          <p:cNvSpPr txBox="1"/>
          <p:nvPr/>
        </p:nvSpPr>
        <p:spPr>
          <a:xfrm>
            <a:off x="621792" y="1417320"/>
            <a:ext cx="2743200" cy="274320"/>
          </a:xfrm>
          <a:prstGeom prst="rect">
            <a:avLst/>
          </a:prstGeom>
          <a:noFill/>
          <a:ln/>
        </p:spPr>
        <p:txBody>
          <a:bodyPr wrap="square" lIns="0" tIns="0" rIns="0" bIns="0" rtlCol="0" anchor="t"/>
          <a:lstStyle/>
          <a:p>
            <a:pPr indent="0" marL="0">
              <a:buNone/>
            </a:pPr>
            <a:r>
              <a:rPr lang="en-US" sz="1500" b="1" dirty="0">
                <a:solidFill>
                  <a:schemeClr val="bg1"/>
                </a:solidFill>
              </a:rPr>
              <a:t>Text2Mel</a:t>
            </a:r>
            <a:endParaRPr lang="en-US" sz="1500" dirty="0"/>
          </a:p>
        </p:txBody>
      </p:sp>
      <p:sp>
        <p:nvSpPr>
          <p:cNvPr id="6" name="box-body-129"/>
          <p:cNvSpPr txBox="1"/>
          <p:nvPr/>
        </p:nvSpPr>
        <p:spPr>
          <a:xfrm>
            <a:off x="621792" y="1709928"/>
            <a:ext cx="2743200" cy="411480"/>
          </a:xfrm>
          <a:prstGeom prst="rect">
            <a:avLst/>
          </a:prstGeom>
          <a:noFill/>
          <a:ln/>
        </p:spPr>
        <p:txBody>
          <a:bodyPr wrap="square" lIns="0" tIns="0" rIns="0" bIns="0" rtlCol="0" anchor="t"/>
          <a:lstStyle/>
          <a:p>
            <a:pPr indent="0" marL="0">
              <a:buNone/>
            </a:pPr>
            <a:r>
              <a:rPr lang="en-US" sz="1100" dirty="0">
                <a:solidFill>
                  <a:schemeClr val="bg1"/>
                </a:solidFill>
              </a:rPr>
              <a:t>Conv text encoder + audio encoder/decoder → mel spectrogram (80)</a:t>
            </a:r>
            <a:endParaRPr lang="en-US" sz="1100" dirty="0"/>
          </a:p>
        </p:txBody>
      </p:sp>
      <p:sp>
        <p:nvSpPr>
          <p:cNvPr id="7" name="arrow-130"/>
          <p:cNvSpPr/>
          <p:nvPr/>
        </p:nvSpPr>
        <p:spPr>
          <a:xfrm>
            <a:off x="1965960" y="2194560"/>
            <a:ext cx="0" cy="201168"/>
          </a:xfrm>
          <a:prstGeom prst="line">
            <a:avLst/>
          </a:prstGeom>
          <a:noFill/>
          <a:ln w="19050">
            <a:solidFill>
              <a:srgbClr val="6B6478"/>
            </a:solidFill>
            <a:prstDash val="solid"/>
            <a:tailEnd type="triangle"/>
          </a:ln>
        </p:spPr>
      </p:sp>
      <p:sp>
        <p:nvSpPr>
          <p:cNvPr id="8" name="card-131"/>
          <p:cNvSpPr/>
          <p:nvPr/>
        </p:nvSpPr>
        <p:spPr>
          <a:xfrm>
            <a:off x="457200" y="2423160"/>
            <a:ext cx="3017520" cy="841248"/>
          </a:xfrm>
          <a:prstGeom prst="roundRect">
            <a:avLst>
              <a:gd name="adj" fmla="val 8696"/>
            </a:avLst>
          </a:prstGeom>
          <a:solidFill>
            <a:schemeClr val="tx2"/>
          </a:solidFill>
          <a:ln/>
        </p:spPr>
      </p:sp>
      <p:sp>
        <p:nvSpPr>
          <p:cNvPr id="9" name="box-head-132"/>
          <p:cNvSpPr txBox="1"/>
          <p:nvPr/>
        </p:nvSpPr>
        <p:spPr>
          <a:xfrm>
            <a:off x="621792" y="2514600"/>
            <a:ext cx="2743200" cy="274320"/>
          </a:xfrm>
          <a:prstGeom prst="rect">
            <a:avLst/>
          </a:prstGeom>
          <a:noFill/>
          <a:ln/>
        </p:spPr>
        <p:txBody>
          <a:bodyPr wrap="square" lIns="0" tIns="0" rIns="0" bIns="0" rtlCol="0" anchor="t"/>
          <a:lstStyle/>
          <a:p>
            <a:pPr indent="0" marL="0">
              <a:buNone/>
            </a:pPr>
            <a:r>
              <a:rPr lang="en-US" sz="1500" b="1" dirty="0">
                <a:solidFill>
                  <a:schemeClr val="bg1"/>
                </a:solidFill>
              </a:rPr>
              <a:t>SSRN</a:t>
            </a:r>
            <a:endParaRPr lang="en-US" sz="1500" dirty="0"/>
          </a:p>
        </p:txBody>
      </p:sp>
      <p:sp>
        <p:nvSpPr>
          <p:cNvPr id="10" name="box-body-133"/>
          <p:cNvSpPr txBox="1"/>
          <p:nvPr/>
        </p:nvSpPr>
        <p:spPr>
          <a:xfrm>
            <a:off x="621792" y="2807208"/>
            <a:ext cx="2743200" cy="411480"/>
          </a:xfrm>
          <a:prstGeom prst="rect">
            <a:avLst/>
          </a:prstGeom>
          <a:noFill/>
          <a:ln/>
        </p:spPr>
        <p:txBody>
          <a:bodyPr wrap="square" lIns="0" tIns="0" rIns="0" bIns="0" rtlCol="0" anchor="t"/>
          <a:lstStyle/>
          <a:p>
            <a:pPr indent="0" marL="0">
              <a:buNone/>
            </a:pPr>
            <a:r>
              <a:rPr lang="en-US" sz="1100" dirty="0">
                <a:solidFill>
                  <a:schemeClr val="bg1"/>
                </a:solidFill>
              </a:rPr>
              <a:t>Channel-expanding 80 → 1025 bins (mel &amp; linear share the hop)</a:t>
            </a:r>
            <a:endParaRPr lang="en-US" sz="1100" dirty="0"/>
          </a:p>
        </p:txBody>
      </p:sp>
      <p:sp>
        <p:nvSpPr>
          <p:cNvPr id="11" name="arrow-134"/>
          <p:cNvSpPr/>
          <p:nvPr/>
        </p:nvSpPr>
        <p:spPr>
          <a:xfrm>
            <a:off x="1965960" y="3291840"/>
            <a:ext cx="0" cy="201168"/>
          </a:xfrm>
          <a:prstGeom prst="line">
            <a:avLst/>
          </a:prstGeom>
          <a:noFill/>
          <a:ln w="19050">
            <a:solidFill>
              <a:srgbClr val="6B6478"/>
            </a:solidFill>
            <a:prstDash val="solid"/>
            <a:tailEnd type="triangle"/>
          </a:ln>
        </p:spPr>
      </p:sp>
      <p:sp>
        <p:nvSpPr>
          <p:cNvPr id="12" name="card-135"/>
          <p:cNvSpPr/>
          <p:nvPr/>
        </p:nvSpPr>
        <p:spPr>
          <a:xfrm>
            <a:off x="457200" y="3520440"/>
            <a:ext cx="3017520" cy="841248"/>
          </a:xfrm>
          <a:prstGeom prst="roundRect">
            <a:avLst>
              <a:gd name="adj" fmla="val 8696"/>
            </a:avLst>
          </a:prstGeom>
          <a:solidFill>
            <a:schemeClr val="bg2"/>
          </a:solidFill>
          <a:ln/>
        </p:spPr>
      </p:sp>
      <p:sp>
        <p:nvSpPr>
          <p:cNvPr id="13" name="box-head-136"/>
          <p:cNvSpPr txBox="1"/>
          <p:nvPr/>
        </p:nvSpPr>
        <p:spPr>
          <a:xfrm>
            <a:off x="621792" y="3611880"/>
            <a:ext cx="2743200" cy="274320"/>
          </a:xfrm>
          <a:prstGeom prst="rect">
            <a:avLst/>
          </a:prstGeom>
          <a:noFill/>
          <a:ln/>
        </p:spPr>
        <p:txBody>
          <a:bodyPr wrap="square" lIns="0" tIns="0" rIns="0" bIns="0" rtlCol="0" anchor="t"/>
          <a:lstStyle/>
          <a:p>
            <a:pPr indent="0" marL="0">
              <a:buNone/>
            </a:pPr>
            <a:r>
              <a:rPr lang="en-US" sz="1500" b="1" dirty="0">
                <a:solidFill>
                  <a:schemeClr val="tx1"/>
                </a:solidFill>
              </a:rPr>
              <a:t>Griffin-Lim</a:t>
            </a:r>
            <a:endParaRPr lang="en-US" sz="1500" dirty="0"/>
          </a:p>
        </p:txBody>
      </p:sp>
      <p:sp>
        <p:nvSpPr>
          <p:cNvPr id="14" name="box-body-137"/>
          <p:cNvSpPr txBox="1"/>
          <p:nvPr/>
        </p:nvSpPr>
        <p:spPr>
          <a:xfrm>
            <a:off x="621792" y="3904488"/>
            <a:ext cx="2743200" cy="411480"/>
          </a:xfrm>
          <a:prstGeom prst="rect">
            <a:avLst/>
          </a:prstGeom>
          <a:noFill/>
          <a:ln/>
        </p:spPr>
        <p:txBody>
          <a:bodyPr wrap="square" lIns="0" tIns="0" rIns="0" bIns="0" rtlCol="0" anchor="t"/>
          <a:lstStyle/>
          <a:p>
            <a:pPr indent="0" marL="0">
              <a:buNone/>
            </a:pPr>
            <a:r>
              <a:rPr lang="en-US" sz="1100" dirty="0">
                <a:solidFill>
                  <a:schemeClr val="tx1"/>
                </a:solidFill>
              </a:rPr>
              <a:t>Same inversion as every other model</a:t>
            </a:r>
            <a:endParaRPr lang="en-US" sz="1100" dirty="0"/>
          </a:p>
        </p:txBody>
      </p:sp>
      <p:sp>
        <p:nvSpPr>
          <p:cNvPr id="15" name="ga-tag"/>
          <p:cNvSpPr/>
          <p:nvPr/>
        </p:nvSpPr>
        <p:spPr>
          <a:xfrm>
            <a:off x="3611880" y="1371600"/>
            <a:ext cx="1051560" cy="749808"/>
          </a:xfrm>
          <a:prstGeom prst="roundRect">
            <a:avLst>
              <a:gd name="adj" fmla="val 9756"/>
            </a:avLst>
          </a:prstGeom>
          <a:solidFill>
            <a:schemeClr val="accent1"/>
          </a:solidFill>
          <a:ln/>
        </p:spPr>
      </p:sp>
      <p:sp>
        <p:nvSpPr>
          <p:cNvPr id="16" name="ga-label-138"/>
          <p:cNvSpPr txBox="1"/>
          <p:nvPr/>
        </p:nvSpPr>
        <p:spPr>
          <a:xfrm>
            <a:off x="3657600" y="1371600"/>
            <a:ext cx="960120" cy="749808"/>
          </a:xfrm>
          <a:prstGeom prst="rect">
            <a:avLst/>
          </a:prstGeom>
          <a:noFill/>
          <a:ln/>
        </p:spPr>
        <p:txBody>
          <a:bodyPr wrap="square" lIns="0" tIns="0" rIns="0" bIns="0" rtlCol="0" anchor="ctr"/>
          <a:lstStyle/>
          <a:p>
            <a:pPr algn="ctr" indent="0" marL="0">
              <a:buNone/>
            </a:pPr>
            <a:r>
              <a:rPr lang="en-US" sz="1100" b="1" dirty="0">
                <a:solidFill>
                  <a:schemeClr val="bg1"/>
                </a:solidFill>
              </a:rPr>
              <a:t>+ guided-attention loss</a:t>
            </a:r>
            <a:endParaRPr lang="en-US" sz="1100" dirty="0"/>
          </a:p>
        </p:txBody>
      </p:sp>
      <p:sp>
        <p:nvSpPr>
          <p:cNvPr id="17" name="label-139"/>
          <p:cNvSpPr txBox="1"/>
          <p:nvPr/>
        </p:nvSpPr>
        <p:spPr>
          <a:xfrm>
            <a:off x="4937760" y="960120"/>
            <a:ext cx="374904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WHY THIS MODEL</a:t>
            </a:r>
            <a:endParaRPr lang="en-US" sz="1100" dirty="0"/>
          </a:p>
        </p:txBody>
      </p:sp>
      <p:sp>
        <p:nvSpPr>
          <p:cNvPr id="18" name="badge-140"/>
          <p:cNvSpPr/>
          <p:nvPr/>
        </p:nvSpPr>
        <p:spPr>
          <a:xfrm>
            <a:off x="4937760" y="1316736"/>
            <a:ext cx="329184" cy="329184"/>
          </a:xfrm>
          <a:prstGeom prst="ellipse">
            <a:avLst/>
          </a:prstGeom>
          <a:solidFill>
            <a:schemeClr val="accent1"/>
          </a:solidFill>
          <a:ln/>
        </p:spPr>
      </p:sp>
      <p:sp>
        <p:nvSpPr>
          <p:cNvPr id="19" name="badge-label-141"/>
          <p:cNvSpPr txBox="1"/>
          <p:nvPr/>
        </p:nvSpPr>
        <p:spPr>
          <a:xfrm>
            <a:off x="4937760" y="13167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0" name="why-head-142"/>
          <p:cNvSpPr txBox="1"/>
          <p:nvPr/>
        </p:nvSpPr>
        <p:spPr>
          <a:xfrm>
            <a:off x="5394960" y="1280160"/>
            <a:ext cx="3291840" cy="256032"/>
          </a:xfrm>
          <a:prstGeom prst="rect">
            <a:avLst/>
          </a:prstGeom>
          <a:noFill/>
          <a:ln/>
        </p:spPr>
        <p:txBody>
          <a:bodyPr wrap="square" lIns="0" tIns="0" rIns="0" bIns="0" rtlCol="0" anchor="t"/>
          <a:lstStyle/>
          <a:p>
            <a:pPr indent="0" marL="0">
              <a:buNone/>
            </a:pPr>
            <a:r>
              <a:rPr lang="en-US" sz="1400" b="1" dirty="0">
                <a:solidFill>
                  <a:schemeClr val="tx1"/>
                </a:solidFill>
              </a:rPr>
              <a:t>Targets the failure</a:t>
            </a:r>
            <a:endParaRPr lang="en-US" sz="1400" dirty="0"/>
          </a:p>
        </p:txBody>
      </p:sp>
      <p:sp>
        <p:nvSpPr>
          <p:cNvPr id="21" name="why-body-143"/>
          <p:cNvSpPr txBox="1"/>
          <p:nvPr/>
        </p:nvSpPr>
        <p:spPr>
          <a:xfrm>
            <a:off x="5394960" y="1554480"/>
            <a:ext cx="3291840" cy="475488"/>
          </a:xfrm>
          <a:prstGeom prst="rect">
            <a:avLst/>
          </a:prstGeom>
          <a:noFill/>
          <a:ln/>
        </p:spPr>
        <p:txBody>
          <a:bodyPr wrap="square" lIns="0" tIns="0" rIns="0" bIns="0" rtlCol="0" anchor="t"/>
          <a:lstStyle/>
          <a:p>
            <a:pPr indent="0" marL="0">
              <a:buNone/>
            </a:pPr>
            <a:r>
              <a:rPr lang="en-US" sz="1150" dirty="0">
                <a:solidFill>
                  <a:schemeClr val="tx1"/>
                </a:solidFill>
              </a:rPr>
              <a:t>Forces a near-diagonal alignment — drift is what the paper blames for repeated words</a:t>
            </a:r>
            <a:endParaRPr lang="en-US" sz="1150" dirty="0"/>
          </a:p>
        </p:txBody>
      </p:sp>
      <p:sp>
        <p:nvSpPr>
          <p:cNvPr id="22" name="badge-144"/>
          <p:cNvSpPr/>
          <p:nvPr/>
        </p:nvSpPr>
        <p:spPr>
          <a:xfrm>
            <a:off x="4937760" y="2139696"/>
            <a:ext cx="329184" cy="329184"/>
          </a:xfrm>
          <a:prstGeom prst="ellipse">
            <a:avLst/>
          </a:prstGeom>
          <a:solidFill>
            <a:schemeClr val="accent1"/>
          </a:solidFill>
          <a:ln/>
        </p:spPr>
      </p:sp>
      <p:sp>
        <p:nvSpPr>
          <p:cNvPr id="23" name="badge-label-145"/>
          <p:cNvSpPr txBox="1"/>
          <p:nvPr/>
        </p:nvSpPr>
        <p:spPr>
          <a:xfrm>
            <a:off x="4937760" y="21396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4" name="why-head-146"/>
          <p:cNvSpPr txBox="1"/>
          <p:nvPr/>
        </p:nvSpPr>
        <p:spPr>
          <a:xfrm>
            <a:off x="5394960" y="2103120"/>
            <a:ext cx="3291840" cy="256032"/>
          </a:xfrm>
          <a:prstGeom prst="rect">
            <a:avLst/>
          </a:prstGeom>
          <a:noFill/>
          <a:ln/>
        </p:spPr>
        <p:txBody>
          <a:bodyPr wrap="square" lIns="0" tIns="0" rIns="0" bIns="0" rtlCol="0" anchor="t"/>
          <a:lstStyle/>
          <a:p>
            <a:pPr indent="0" marL="0">
              <a:buNone/>
            </a:pPr>
            <a:r>
              <a:rPr lang="en-US" sz="1400" b="1" dirty="0">
                <a:solidFill>
                  <a:schemeClr val="tx1"/>
                </a:solidFill>
              </a:rPr>
              <a:t>Fast on small data</a:t>
            </a:r>
            <a:endParaRPr lang="en-US" sz="1400" dirty="0"/>
          </a:p>
        </p:txBody>
      </p:sp>
      <p:sp>
        <p:nvSpPr>
          <p:cNvPr id="25" name="why-body-147"/>
          <p:cNvSpPr txBox="1"/>
          <p:nvPr/>
        </p:nvSpPr>
        <p:spPr>
          <a:xfrm>
            <a:off x="5394960" y="2377440"/>
            <a:ext cx="3291840" cy="475488"/>
          </a:xfrm>
          <a:prstGeom prst="rect">
            <a:avLst/>
          </a:prstGeom>
          <a:noFill/>
          <a:ln/>
        </p:spPr>
        <p:txBody>
          <a:bodyPr wrap="square" lIns="0" tIns="0" rIns="0" bIns="0" rtlCol="0" anchor="t"/>
          <a:lstStyle/>
          <a:p>
            <a:pPr indent="0" marL="0">
              <a:buNone/>
            </a:pPr>
            <a:r>
              <a:rPr lang="en-US" sz="1150" dirty="0">
                <a:solidFill>
                  <a:schemeClr val="tx1"/>
                </a:solidFill>
              </a:rPr>
              <a:t>Convolutions train far faster than RNNs on CPU with 200 clips</a:t>
            </a:r>
            <a:endParaRPr lang="en-US" sz="1150" dirty="0"/>
          </a:p>
        </p:txBody>
      </p:sp>
      <p:sp>
        <p:nvSpPr>
          <p:cNvPr id="26" name="badge-148"/>
          <p:cNvSpPr/>
          <p:nvPr/>
        </p:nvSpPr>
        <p:spPr>
          <a:xfrm>
            <a:off x="4937760" y="2962656"/>
            <a:ext cx="329184" cy="329184"/>
          </a:xfrm>
          <a:prstGeom prst="ellipse">
            <a:avLst/>
          </a:prstGeom>
          <a:solidFill>
            <a:schemeClr val="accent1"/>
          </a:solidFill>
          <a:ln/>
        </p:spPr>
      </p:sp>
      <p:sp>
        <p:nvSpPr>
          <p:cNvPr id="27" name="badge-label-149"/>
          <p:cNvSpPr txBox="1"/>
          <p:nvPr/>
        </p:nvSpPr>
        <p:spPr>
          <a:xfrm>
            <a:off x="4937760" y="296265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8" name="why-head-150"/>
          <p:cNvSpPr txBox="1"/>
          <p:nvPr/>
        </p:nvSpPr>
        <p:spPr>
          <a:xfrm>
            <a:off x="5394960" y="2926080"/>
            <a:ext cx="3291840" cy="256032"/>
          </a:xfrm>
          <a:prstGeom prst="rect">
            <a:avLst/>
          </a:prstGeom>
          <a:noFill/>
          <a:ln/>
        </p:spPr>
        <p:txBody>
          <a:bodyPr wrap="square" lIns="0" tIns="0" rIns="0" bIns="0" rtlCol="0" anchor="t"/>
          <a:lstStyle/>
          <a:p>
            <a:pPr indent="0" marL="0">
              <a:buNone/>
            </a:pPr>
            <a:r>
              <a:rPr lang="en-US" sz="1400" b="1" dirty="0">
                <a:solidFill>
                  <a:schemeClr val="tx1"/>
                </a:solidFill>
              </a:rPr>
              <a:t>New to this paper</a:t>
            </a:r>
            <a:endParaRPr lang="en-US" sz="1400" dirty="0"/>
          </a:p>
        </p:txBody>
      </p:sp>
      <p:sp>
        <p:nvSpPr>
          <p:cNvPr id="29" name="why-body-151"/>
          <p:cNvSpPr txBox="1"/>
          <p:nvPr/>
        </p:nvSpPr>
        <p:spPr>
          <a:xfrm>
            <a:off x="5394960" y="3200400"/>
            <a:ext cx="3291840" cy="475488"/>
          </a:xfrm>
          <a:prstGeom prst="rect">
            <a:avLst/>
          </a:prstGeom>
          <a:noFill/>
          <a:ln/>
        </p:spPr>
        <p:txBody>
          <a:bodyPr wrap="square" lIns="0" tIns="0" rIns="0" bIns="0" rtlCol="0" anchor="t"/>
          <a:lstStyle/>
          <a:p>
            <a:pPr indent="0" marL="0">
              <a:buNone/>
            </a:pPr>
            <a:r>
              <a:rPr lang="en-US" sz="1150" dirty="0">
                <a:solidFill>
                  <a:schemeClr val="tx1"/>
                </a:solidFill>
              </a:rPr>
              <a:t>It cites only Tacotron, Char2Wav and Deep Voice 3 — not DCTTS</a:t>
            </a:r>
            <a:endParaRPr lang="en-US" sz="1150" dirty="0"/>
          </a:p>
        </p:txBody>
      </p:sp>
      <p:sp>
        <p:nvSpPr>
          <p:cNvPr id="30" name="badge-152"/>
          <p:cNvSpPr/>
          <p:nvPr/>
        </p:nvSpPr>
        <p:spPr>
          <a:xfrm>
            <a:off x="4937760" y="3785616"/>
            <a:ext cx="329184" cy="329184"/>
          </a:xfrm>
          <a:prstGeom prst="ellipse">
            <a:avLst/>
          </a:prstGeom>
          <a:solidFill>
            <a:schemeClr val="accent1"/>
          </a:solidFill>
          <a:ln/>
        </p:spPr>
      </p:sp>
      <p:sp>
        <p:nvSpPr>
          <p:cNvPr id="31" name="badge-label-153"/>
          <p:cNvSpPr txBox="1"/>
          <p:nvPr/>
        </p:nvSpPr>
        <p:spPr>
          <a:xfrm>
            <a:off x="4937760" y="378561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2" name="why-head-154"/>
          <p:cNvSpPr txBox="1"/>
          <p:nvPr/>
        </p:nvSpPr>
        <p:spPr>
          <a:xfrm>
            <a:off x="5394960" y="3749040"/>
            <a:ext cx="3291840" cy="256032"/>
          </a:xfrm>
          <a:prstGeom prst="rect">
            <a:avLst/>
          </a:prstGeom>
          <a:noFill/>
          <a:ln/>
        </p:spPr>
        <p:txBody>
          <a:bodyPr wrap="square" lIns="0" tIns="0" rIns="0" bIns="0" rtlCol="0" anchor="t"/>
          <a:lstStyle/>
          <a:p>
            <a:pPr indent="0" marL="0">
              <a:buNone/>
            </a:pPr>
            <a:r>
              <a:rPr lang="en-US" sz="1400" b="1" dirty="0">
                <a:solidFill>
                  <a:schemeClr val="tx1"/>
                </a:solidFill>
              </a:rPr>
              <a:t>Fair comparison</a:t>
            </a:r>
            <a:endParaRPr lang="en-US" sz="1400" dirty="0"/>
          </a:p>
        </p:txBody>
      </p:sp>
      <p:sp>
        <p:nvSpPr>
          <p:cNvPr id="33" name="why-body-155"/>
          <p:cNvSpPr txBox="1"/>
          <p:nvPr/>
        </p:nvSpPr>
        <p:spPr>
          <a:xfrm>
            <a:off x="5394960" y="4023360"/>
            <a:ext cx="3291840" cy="475488"/>
          </a:xfrm>
          <a:prstGeom prst="rect">
            <a:avLst/>
          </a:prstGeom>
          <a:noFill/>
          <a:ln/>
        </p:spPr>
        <p:txBody>
          <a:bodyPr wrap="square" lIns="0" tIns="0" rIns="0" bIns="0" rtlCol="0" anchor="t"/>
          <a:lstStyle/>
          <a:p>
            <a:pPr indent="0" marL="0">
              <a:buNone/>
            </a:pPr>
            <a:r>
              <a:rPr lang="en-US" sz="1150" dirty="0">
                <a:solidFill>
                  <a:schemeClr val="tx1"/>
                </a:solidFill>
              </a:rPr>
              <a:t>Same data, split and metrics; channels reduced for the CPU budget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Attention: Seq2Seq vs DCTTS</a:t>
            </a:r>
            <a:endParaRPr lang="en-US" sz="2800" dirty="0"/>
          </a:p>
        </p:txBody>
      </p:sp>
      <p:pic>
        <p:nvPicPr>
          <p:cNvPr id="3" name="figure-156" descr="Attention maps: Seq2Seq shows horizontal bands with no alignment; DCTTS shows a monotonic near-diagonal path rising over the first ~155 decoder frames, then a plateau">    </p:cNvPr>
          <p:cNvPicPr>
            <a:picLocks noChangeAspect="1"/>
          </p:cNvPicPr>
          <p:nvPr/>
        </p:nvPicPr>
        <p:blipFill>
          <a:blip r:embed="rId1"/>
          <a:stretch>
            <a:fillRect/>
          </a:stretch>
        </p:blipFill>
        <p:spPr>
          <a:xfrm>
            <a:off x="685800" y="896112"/>
            <a:ext cx="7772400" cy="3108960"/>
          </a:xfrm>
          <a:prstGeom prst="rect">
            <a:avLst/>
          </a:prstGeom>
        </p:spPr>
      </p:pic>
      <p:sp>
        <p:nvSpPr>
          <p:cNvPr id="4" name="card-157"/>
          <p:cNvSpPr/>
          <p:nvPr/>
        </p:nvSpPr>
        <p:spPr>
          <a:xfrm>
            <a:off x="457200" y="4041648"/>
            <a:ext cx="3977640" cy="621792"/>
          </a:xfrm>
          <a:prstGeom prst="roundRect">
            <a:avLst>
              <a:gd name="adj" fmla="val 11765"/>
            </a:avLst>
          </a:prstGeom>
          <a:solidFill>
            <a:schemeClr val="bg2"/>
          </a:solidFill>
          <a:ln/>
        </p:spPr>
      </p:sp>
      <p:sp>
        <p:nvSpPr>
          <p:cNvPr id="5" name="take-l-158"/>
          <p:cNvSpPr txBox="1"/>
          <p:nvPr/>
        </p:nvSpPr>
        <p:spPr>
          <a:xfrm>
            <a:off x="594360" y="4069080"/>
            <a:ext cx="3749040" cy="566928"/>
          </a:xfrm>
          <a:prstGeom prst="rect">
            <a:avLst/>
          </a:prstGeom>
          <a:noFill/>
          <a:ln/>
        </p:spPr>
        <p:txBody>
          <a:bodyPr wrap="square" lIns="0" tIns="0" rIns="0" bIns="0" rtlCol="0" anchor="ctr"/>
          <a:lstStyle/>
          <a:p>
            <a:pPr indent="0" marL="0">
              <a:buNone/>
            </a:pPr>
            <a:r>
              <a:rPr lang="en-US" sz="1150" b="1" dirty="0">
                <a:solidFill>
                  <a:schemeClr val="tx1"/>
                </a:solidFill>
              </a:rPr>
              <a:t>Seq2Seq: </a:t>
            </a:r>
            <a:r>
              <a:rPr lang="en-US" sz="1150" dirty="0">
                <a:solidFill>
                  <a:schemeClr val="tx1"/>
                </a:solidFill>
              </a:rPr>
              <a:t>uniform horizontal bands — every frame attends to the same symbols, so there is no alignment</a:t>
            </a:r>
            <a:endParaRPr lang="en-US" sz="1150" dirty="0"/>
          </a:p>
        </p:txBody>
      </p:sp>
      <p:sp>
        <p:nvSpPr>
          <p:cNvPr id="6" name="card-159"/>
          <p:cNvSpPr/>
          <p:nvPr/>
        </p:nvSpPr>
        <p:spPr>
          <a:xfrm>
            <a:off x="4709160" y="4041648"/>
            <a:ext cx="3977640" cy="621792"/>
          </a:xfrm>
          <a:prstGeom prst="roundRect">
            <a:avLst>
              <a:gd name="adj" fmla="val 11765"/>
            </a:avLst>
          </a:prstGeom>
          <a:solidFill>
            <a:schemeClr val="bg2"/>
          </a:solidFill>
          <a:ln/>
        </p:spPr>
      </p:sp>
      <p:sp>
        <p:nvSpPr>
          <p:cNvPr id="7" name="take-r-160"/>
          <p:cNvSpPr txBox="1"/>
          <p:nvPr/>
        </p:nvSpPr>
        <p:spPr>
          <a:xfrm>
            <a:off x="4846320" y="4069080"/>
            <a:ext cx="3749040" cy="566928"/>
          </a:xfrm>
          <a:prstGeom prst="rect">
            <a:avLst/>
          </a:prstGeom>
          <a:noFill/>
          <a:ln/>
        </p:spPr>
        <p:txBody>
          <a:bodyPr wrap="square" lIns="0" tIns="0" rIns="0" bIns="0" rtlCol="0" anchor="ctr"/>
          <a:lstStyle/>
          <a:p>
            <a:pPr indent="0" marL="0">
              <a:buNone/>
            </a:pPr>
            <a:r>
              <a:rPr lang="en-US" sz="1150" b="1" dirty="0">
                <a:solidFill>
                  <a:schemeClr val="accent1"/>
                </a:solidFill>
              </a:rPr>
              <a:t>DCTTS: </a:t>
            </a:r>
            <a:r>
              <a:rPr lang="en-US" sz="1150" dirty="0">
                <a:solidFill>
                  <a:schemeClr val="tx1"/>
                </a:solidFill>
              </a:rPr>
              <a:t>monotonic, near-diagonal path over the first ~155 frames, then a plateau</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Final comparison</a:t>
            </a:r>
            <a:endParaRPr lang="en-US" sz="2800" dirty="0"/>
          </a:p>
        </p:txBody>
      </p:sp>
      <p:pic>
        <p:nvPicPr>
          <p:cNvPr id="3" name="figure-161" descr="Bar chart of UTMOS and CER for SVR, NN, Seq2Seq and DCTTS">    </p:cNvPr>
          <p:cNvPicPr>
            <a:picLocks noChangeAspect="1"/>
          </p:cNvPicPr>
          <p:nvPr/>
        </p:nvPicPr>
        <p:blipFill>
          <a:blip r:embed="rId1"/>
          <a:stretch>
            <a:fillRect/>
          </a:stretch>
        </p:blipFill>
        <p:spPr>
          <a:xfrm>
            <a:off x="457200" y="914400"/>
            <a:ext cx="4800600" cy="2743200"/>
          </a:xfrm>
          <a:prstGeom prst="rect">
            <a:avLst/>
          </a:prstGeom>
        </p:spPr>
      </p:pic>
      <p:sp>
        <p:nvSpPr>
          <p:cNvPr id="4" name="label-162"/>
          <p:cNvSpPr txBox="1"/>
          <p:nvPr/>
        </p:nvSpPr>
        <p:spPr>
          <a:xfrm>
            <a:off x="457200" y="3685032"/>
            <a:ext cx="4937760" cy="228600"/>
          </a:xfrm>
          <a:prstGeom prst="rect">
            <a:avLst/>
          </a:prstGeom>
          <a:noFill/>
          <a:ln/>
        </p:spPr>
        <p:txBody>
          <a:bodyPr wrap="square" lIns="0" tIns="0" rIns="0" bIns="0" rtlCol="0" anchor="t"/>
          <a:lstStyle/>
          <a:p>
            <a:pPr indent="0" marL="0">
              <a:buNone/>
            </a:pPr>
            <a:r>
              <a:rPr lang="en-US" sz="1000" b="1" dirty="0">
                <a:solidFill>
                  <a:schemeClr val="accent5"/>
                </a:solidFill>
              </a:rPr>
              <a:t>DCTTS vs Seq2Seq — paired Wilcoxon signed-rank, 25 utterances</a:t>
            </a:r>
            <a:endParaRPr lang="en-US" sz="1000" dirty="0"/>
          </a:p>
        </p:txBody>
      </p:sp>
      <p:sp>
        <p:nvSpPr>
          <p:cNvPr id="5" name="card-163"/>
          <p:cNvSpPr/>
          <p:nvPr/>
        </p:nvSpPr>
        <p:spPr>
          <a:xfrm>
            <a:off x="457200" y="3950208"/>
            <a:ext cx="2331720" cy="749808"/>
          </a:xfrm>
          <a:prstGeom prst="roundRect">
            <a:avLst>
              <a:gd name="adj" fmla="val 9756"/>
            </a:avLst>
          </a:prstGeom>
          <a:solidFill>
            <a:schemeClr val="bg2"/>
          </a:solidFill>
          <a:ln/>
        </p:spPr>
      </p:sp>
      <p:sp>
        <p:nvSpPr>
          <p:cNvPr id="6" name="w-head-164"/>
          <p:cNvSpPr txBox="1"/>
          <p:nvPr/>
        </p:nvSpPr>
        <p:spPr>
          <a:xfrm>
            <a:off x="566928" y="3995928"/>
            <a:ext cx="2112264" cy="237744"/>
          </a:xfrm>
          <a:prstGeom prst="rect">
            <a:avLst/>
          </a:prstGeom>
          <a:noFill/>
          <a:ln/>
        </p:spPr>
        <p:txBody>
          <a:bodyPr wrap="square" lIns="0" tIns="0" rIns="0" bIns="0" rtlCol="0" anchor="t"/>
          <a:lstStyle/>
          <a:p>
            <a:pPr indent="0" marL="0">
              <a:buNone/>
            </a:pPr>
            <a:r>
              <a:rPr lang="en-US" sz="1200" b="1" dirty="0">
                <a:solidFill>
                  <a:schemeClr val="accent1"/>
                </a:solidFill>
              </a:rPr>
              <a:t>UTMOS  </a:t>
            </a:r>
            <a:r>
              <a:rPr lang="en-US" sz="1200" b="1" dirty="0">
                <a:solidFill>
                  <a:schemeClr val="tx1"/>
                </a:solidFill>
              </a:rPr>
              <a:t>1.441 vs 1.633</a:t>
            </a:r>
            <a:endParaRPr lang="en-US" sz="1200" dirty="0"/>
          </a:p>
        </p:txBody>
      </p:sp>
      <p:sp>
        <p:nvSpPr>
          <p:cNvPr id="7" name="w-stat-165"/>
          <p:cNvSpPr txBox="1"/>
          <p:nvPr/>
        </p:nvSpPr>
        <p:spPr>
          <a:xfrm>
            <a:off x="566928" y="4242816"/>
            <a:ext cx="2112264" cy="201168"/>
          </a:xfrm>
          <a:prstGeom prst="rect">
            <a:avLst/>
          </a:prstGeom>
          <a:noFill/>
          <a:ln/>
        </p:spPr>
        <p:txBody>
          <a:bodyPr wrap="square" lIns="0" tIns="0" rIns="0" bIns="0" rtlCol="0" anchor="t"/>
          <a:lstStyle/>
          <a:p>
            <a:pPr indent="0" marL="0">
              <a:buNone/>
            </a:pPr>
            <a:r>
              <a:rPr lang="en-US" sz="1050" dirty="0">
                <a:solidFill>
                  <a:schemeClr val="tx1"/>
                </a:solidFill>
              </a:rPr>
              <a:t>W = 71.0, p = 0.0125</a:t>
            </a:r>
            <a:endParaRPr lang="en-US" sz="1050" dirty="0"/>
          </a:p>
        </p:txBody>
      </p:sp>
      <p:sp>
        <p:nvSpPr>
          <p:cNvPr id="8" name="w-verdict-166"/>
          <p:cNvSpPr txBox="1"/>
          <p:nvPr/>
        </p:nvSpPr>
        <p:spPr>
          <a:xfrm>
            <a:off x="566928" y="4443984"/>
            <a:ext cx="2112264" cy="201168"/>
          </a:xfrm>
          <a:prstGeom prst="rect">
            <a:avLst/>
          </a:prstGeom>
          <a:noFill/>
          <a:ln/>
        </p:spPr>
        <p:txBody>
          <a:bodyPr wrap="square" lIns="0" tIns="0" rIns="0" bIns="0" rtlCol="0" anchor="t"/>
          <a:lstStyle/>
          <a:p>
            <a:pPr indent="0" marL="0">
              <a:buNone/>
            </a:pPr>
            <a:r>
              <a:rPr lang="en-US" sz="1050" i="1" dirty="0">
                <a:solidFill>
                  <a:schemeClr val="accent1"/>
                </a:solidFill>
              </a:rPr>
              <a:t>DCTTS significantly lower</a:t>
            </a:r>
            <a:endParaRPr lang="en-US" sz="1050" dirty="0"/>
          </a:p>
        </p:txBody>
      </p:sp>
      <p:sp>
        <p:nvSpPr>
          <p:cNvPr id="9" name="card-167"/>
          <p:cNvSpPr/>
          <p:nvPr/>
        </p:nvSpPr>
        <p:spPr>
          <a:xfrm>
            <a:off x="2944368" y="3950208"/>
            <a:ext cx="2331720" cy="749808"/>
          </a:xfrm>
          <a:prstGeom prst="roundRect">
            <a:avLst>
              <a:gd name="adj" fmla="val 9756"/>
            </a:avLst>
          </a:prstGeom>
          <a:solidFill>
            <a:schemeClr val="bg2"/>
          </a:solidFill>
          <a:ln/>
        </p:spPr>
      </p:sp>
      <p:sp>
        <p:nvSpPr>
          <p:cNvPr id="10" name="w-head-168"/>
          <p:cNvSpPr txBox="1"/>
          <p:nvPr/>
        </p:nvSpPr>
        <p:spPr>
          <a:xfrm>
            <a:off x="3054096" y="3995928"/>
            <a:ext cx="2112264" cy="237744"/>
          </a:xfrm>
          <a:prstGeom prst="rect">
            <a:avLst/>
          </a:prstGeom>
          <a:noFill/>
          <a:ln/>
        </p:spPr>
        <p:txBody>
          <a:bodyPr wrap="square" lIns="0" tIns="0" rIns="0" bIns="0" rtlCol="0" anchor="t"/>
          <a:lstStyle/>
          <a:p>
            <a:pPr indent="0" marL="0">
              <a:buNone/>
            </a:pPr>
            <a:r>
              <a:rPr lang="en-US" sz="1200" b="1" dirty="0">
                <a:solidFill>
                  <a:schemeClr val="accent5"/>
                </a:solidFill>
              </a:rPr>
              <a:t>CER  </a:t>
            </a:r>
            <a:r>
              <a:rPr lang="en-US" sz="1200" b="1" dirty="0">
                <a:solidFill>
                  <a:schemeClr val="tx1"/>
                </a:solidFill>
              </a:rPr>
              <a:t>0.915 vs 0.929</a:t>
            </a:r>
            <a:endParaRPr lang="en-US" sz="1200" dirty="0"/>
          </a:p>
        </p:txBody>
      </p:sp>
      <p:sp>
        <p:nvSpPr>
          <p:cNvPr id="11" name="w-stat-169"/>
          <p:cNvSpPr txBox="1"/>
          <p:nvPr/>
        </p:nvSpPr>
        <p:spPr>
          <a:xfrm>
            <a:off x="3054096" y="4242816"/>
            <a:ext cx="2112264" cy="201168"/>
          </a:xfrm>
          <a:prstGeom prst="rect">
            <a:avLst/>
          </a:prstGeom>
          <a:noFill/>
          <a:ln/>
        </p:spPr>
        <p:txBody>
          <a:bodyPr wrap="square" lIns="0" tIns="0" rIns="0" bIns="0" rtlCol="0" anchor="t"/>
          <a:lstStyle/>
          <a:p>
            <a:pPr indent="0" marL="0">
              <a:buNone/>
            </a:pPr>
            <a:r>
              <a:rPr lang="en-US" sz="1050" dirty="0">
                <a:solidFill>
                  <a:schemeClr val="tx1"/>
                </a:solidFill>
              </a:rPr>
              <a:t>W = 91.0, p = 0.3945</a:t>
            </a:r>
            <a:endParaRPr lang="en-US" sz="1050" dirty="0"/>
          </a:p>
        </p:txBody>
      </p:sp>
      <p:sp>
        <p:nvSpPr>
          <p:cNvPr id="12" name="w-verdict-170"/>
          <p:cNvSpPr txBox="1"/>
          <p:nvPr/>
        </p:nvSpPr>
        <p:spPr>
          <a:xfrm>
            <a:off x="3054096" y="4443984"/>
            <a:ext cx="2112264" cy="201168"/>
          </a:xfrm>
          <a:prstGeom prst="rect">
            <a:avLst/>
          </a:prstGeom>
          <a:noFill/>
          <a:ln/>
        </p:spPr>
        <p:txBody>
          <a:bodyPr wrap="square" lIns="0" tIns="0" rIns="0" bIns="0" rtlCol="0" anchor="t"/>
          <a:lstStyle/>
          <a:p>
            <a:pPr indent="0" marL="0">
              <a:buNone/>
            </a:pPr>
            <a:r>
              <a:rPr lang="en-US" sz="1050" i="1" dirty="0">
                <a:solidFill>
                  <a:schemeClr val="accent5"/>
                </a:solidFill>
              </a:rPr>
              <a:t>No significant difference</a:t>
            </a:r>
            <a:endParaRPr lang="en-US" sz="1050" dirty="0"/>
          </a:p>
        </p:txBody>
      </p:sp>
      <p:pic>
        <p:nvPicPr>
          <p:cNvPr id="13" name="figure-171" descr="Spectrograms for test clip LJ001-0083: ground truth, SVR, NN, Seq2Seq and DCTTS">    </p:cNvPr>
          <p:cNvPicPr>
            <a:picLocks noChangeAspect="1"/>
          </p:cNvPicPr>
          <p:nvPr/>
        </p:nvPicPr>
        <p:blipFill>
          <a:blip r:embed="rId2"/>
          <a:stretch>
            <a:fillRect/>
          </a:stretch>
        </p:blipFill>
        <p:spPr>
          <a:xfrm>
            <a:off x="5623560" y="896112"/>
            <a:ext cx="2926080" cy="3657600"/>
          </a:xfrm>
          <a:prstGeom prst="rect">
            <a:avLst/>
          </a:prstGeom>
        </p:spPr>
      </p:pic>
      <p:sp>
        <p:nvSpPr>
          <p:cNvPr id="14" name="caption-172"/>
          <p:cNvSpPr txBox="1"/>
          <p:nvPr/>
        </p:nvSpPr>
        <p:spPr>
          <a:xfrm>
            <a:off x="5486400" y="4553712"/>
            <a:ext cx="3200400" cy="274320"/>
          </a:xfrm>
          <a:prstGeom prst="rect">
            <a:avLst/>
          </a:prstGeom>
          <a:noFill/>
          <a:ln/>
        </p:spPr>
        <p:txBody>
          <a:bodyPr wrap="square" lIns="0" tIns="0" rIns="0" bIns="0" rtlCol="0" anchor="t"/>
          <a:lstStyle/>
          <a:p>
            <a:pPr algn="ctr" indent="0" marL="0">
              <a:buNone/>
            </a:pPr>
            <a:r>
              <a:rPr lang="en-US" sz="1000" i="1" dirty="0">
                <a:solidFill>
                  <a:schemeClr val="accent5"/>
                </a:solidFill>
              </a:rPr>
              <a:t>Spectrograms, test clip LJ001-0083</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Conclusions &amp; future work</a:t>
            </a:r>
            <a:endParaRPr lang="en-US" sz="2800" dirty="0"/>
          </a:p>
        </p:txBody>
      </p:sp>
      <p:sp>
        <p:nvSpPr>
          <p:cNvPr id="3" name="takeaway-173"/>
          <p:cNvSpPr txBox="1"/>
          <p:nvPr/>
        </p:nvSpPr>
        <p:spPr>
          <a:xfrm>
            <a:off x="457200" y="896112"/>
            <a:ext cx="8229600" cy="411480"/>
          </a:xfrm>
          <a:prstGeom prst="rect">
            <a:avLst/>
          </a:prstGeom>
          <a:noFill/>
          <a:ln/>
        </p:spPr>
        <p:txBody>
          <a:bodyPr wrap="square" lIns="0" tIns="0" rIns="0" bIns="0" rtlCol="0" anchor="t"/>
          <a:lstStyle/>
          <a:p>
            <a:pPr indent="0" marL="0">
              <a:buNone/>
            </a:pPr>
            <a:r>
              <a:rPr lang="en-US" sz="2000" i="1" dirty="0">
                <a:solidFill>
                  <a:schemeClr val="accent2"/>
                </a:solidFill>
                <a:latin typeface="Cambria" pitchFamily="34" charset="0"/>
                <a:ea typeface="Cambria" pitchFamily="34" charset="-122"/>
                <a:cs typeface="Cambria" pitchFamily="34" charset="-120"/>
              </a:rPr>
              <a:t>200 sentences is the binding constraint, not the model.</a:t>
            </a:r>
            <a:endParaRPr lang="en-US" sz="2000" dirty="0"/>
          </a:p>
        </p:txBody>
      </p:sp>
      <p:sp>
        <p:nvSpPr>
          <p:cNvPr id="4" name="card-174"/>
          <p:cNvSpPr/>
          <p:nvPr/>
        </p:nvSpPr>
        <p:spPr>
          <a:xfrm>
            <a:off x="457200" y="1463040"/>
            <a:ext cx="2615184" cy="2560320"/>
          </a:xfrm>
          <a:prstGeom prst="roundRect">
            <a:avLst>
              <a:gd name="adj" fmla="val 2857"/>
            </a:avLst>
          </a:prstGeom>
          <a:solidFill>
            <a:schemeClr val="tx2"/>
          </a:solidFill>
          <a:ln/>
        </p:spPr>
      </p:sp>
      <p:sp>
        <p:nvSpPr>
          <p:cNvPr id="5" name="dot-175"/>
          <p:cNvSpPr/>
          <p:nvPr/>
        </p:nvSpPr>
        <p:spPr>
          <a:xfrm>
            <a:off x="640080" y="1664208"/>
            <a:ext cx="201168" cy="201168"/>
          </a:xfrm>
          <a:prstGeom prst="ellipse">
            <a:avLst/>
          </a:prstGeom>
          <a:solidFill>
            <a:schemeClr val="accent4"/>
          </a:solidFill>
          <a:ln/>
        </p:spPr>
      </p:sp>
      <p:sp>
        <p:nvSpPr>
          <p:cNvPr id="6" name="col-head-176"/>
          <p:cNvSpPr txBox="1"/>
          <p:nvPr/>
        </p:nvSpPr>
        <p:spPr>
          <a:xfrm>
            <a:off x="932688" y="1600200"/>
            <a:ext cx="1975104" cy="329184"/>
          </a:xfrm>
          <a:prstGeom prst="rect">
            <a:avLst/>
          </a:prstGeom>
          <a:noFill/>
          <a:ln/>
        </p:spPr>
        <p:txBody>
          <a:bodyPr wrap="square" lIns="0" tIns="0" rIns="0" bIns="0" rtlCol="0" anchor="ctr"/>
          <a:lstStyle/>
          <a:p>
            <a:pPr indent="0" marL="0">
              <a:buNone/>
            </a:pPr>
            <a:r>
              <a:rPr lang="en-US" sz="1600" b="1" dirty="0">
                <a:solidFill>
                  <a:schemeClr val="bg1"/>
                </a:solidFill>
              </a:rPr>
              <a:t>What worked</a:t>
            </a:r>
            <a:endParaRPr lang="en-US" sz="1600" dirty="0"/>
          </a:p>
        </p:txBody>
      </p:sp>
      <p:sp>
        <p:nvSpPr>
          <p:cNvPr id="7" name="col-body-177"/>
          <p:cNvSpPr txBox="1"/>
          <p:nvPr/>
        </p:nvSpPr>
        <p:spPr>
          <a:xfrm>
            <a:off x="640080" y="2057400"/>
            <a:ext cx="2249424" cy="18288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UTMOS </a:t>
            </a:r>
            <a:r>
              <a:rPr lang="en-US" sz="1200" b="1" dirty="0">
                <a:solidFill>
                  <a:schemeClr val="bg1"/>
                </a:solidFill>
              </a:rPr>
              <a:t>recovers the paper’s ranking</a:t>
            </a:r>
            <a:r>
              <a:rPr lang="en-US" sz="1200" dirty="0">
                <a:solidFill>
                  <a:schemeClr val="bg1"/>
                </a:solidFill>
              </a:rPr>
              <a:t>: SVR 1.31 &lt; NN 1.39 &lt; Seq2Seq 1.63</a:t>
            </a:r>
            <a:endParaRPr lang="en-US" sz="1400" dirty="0"/>
          </a:p>
          <a:p>
            <a:pPr marL="177800" indent="-177800">
              <a:spcAft>
                <a:spcPts val="600"/>
              </a:spcAft>
              <a:buSzPct val="100000"/>
              <a:buChar char="•"/>
            </a:pPr>
            <a:r>
              <a:rPr lang="en-US" sz="1200" dirty="0">
                <a:solidFill>
                  <a:schemeClr val="bg1"/>
                </a:solidFill>
              </a:rPr>
              <a:t>DCTTS </a:t>
            </a:r>
            <a:r>
              <a:rPr lang="en-US" sz="1200" b="1" dirty="0">
                <a:solidFill>
                  <a:schemeClr val="bg1"/>
                </a:solidFill>
              </a:rPr>
              <a:t>fixes the mechanism</a:t>
            </a:r>
            <a:r>
              <a:rPr lang="en-US" sz="1200" dirty="0">
                <a:solidFill>
                  <a:schemeClr val="bg1"/>
                </a:solidFill>
              </a:rPr>
              <a:t>: far more diagonal, monotonic attention</a:t>
            </a:r>
            <a:endParaRPr lang="en-US" sz="1400" dirty="0"/>
          </a:p>
        </p:txBody>
      </p:sp>
      <p:sp>
        <p:nvSpPr>
          <p:cNvPr id="8" name="card-178"/>
          <p:cNvSpPr/>
          <p:nvPr/>
        </p:nvSpPr>
        <p:spPr>
          <a:xfrm>
            <a:off x="3264408" y="1463040"/>
            <a:ext cx="2615184" cy="2560320"/>
          </a:xfrm>
          <a:prstGeom prst="roundRect">
            <a:avLst>
              <a:gd name="adj" fmla="val 2857"/>
            </a:avLst>
          </a:prstGeom>
          <a:solidFill>
            <a:schemeClr val="tx2"/>
          </a:solidFill>
          <a:ln/>
        </p:spPr>
      </p:sp>
      <p:sp>
        <p:nvSpPr>
          <p:cNvPr id="9" name="dot-179"/>
          <p:cNvSpPr/>
          <p:nvPr/>
        </p:nvSpPr>
        <p:spPr>
          <a:xfrm>
            <a:off x="3447288" y="1664208"/>
            <a:ext cx="201168" cy="201168"/>
          </a:xfrm>
          <a:prstGeom prst="ellipse">
            <a:avLst/>
          </a:prstGeom>
          <a:solidFill>
            <a:schemeClr val="accent1"/>
          </a:solidFill>
          <a:ln/>
        </p:spPr>
      </p:sp>
      <p:sp>
        <p:nvSpPr>
          <p:cNvPr id="10" name="col-head-180"/>
          <p:cNvSpPr txBox="1"/>
          <p:nvPr/>
        </p:nvSpPr>
        <p:spPr>
          <a:xfrm>
            <a:off x="3739896" y="1600200"/>
            <a:ext cx="1975104" cy="329184"/>
          </a:xfrm>
          <a:prstGeom prst="rect">
            <a:avLst/>
          </a:prstGeom>
          <a:noFill/>
          <a:ln/>
        </p:spPr>
        <p:txBody>
          <a:bodyPr wrap="square" lIns="0" tIns="0" rIns="0" bIns="0" rtlCol="0" anchor="ctr"/>
          <a:lstStyle/>
          <a:p>
            <a:pPr indent="0" marL="0">
              <a:buNone/>
            </a:pPr>
            <a:r>
              <a:rPr lang="en-US" sz="1600" b="1" dirty="0">
                <a:solidFill>
                  <a:schemeClr val="bg1"/>
                </a:solidFill>
              </a:rPr>
              <a:t>Honest verdict</a:t>
            </a:r>
            <a:endParaRPr lang="en-US" sz="1600" dirty="0"/>
          </a:p>
        </p:txBody>
      </p:sp>
      <p:sp>
        <p:nvSpPr>
          <p:cNvPr id="11" name="col-body-181"/>
          <p:cNvSpPr txBox="1"/>
          <p:nvPr/>
        </p:nvSpPr>
        <p:spPr>
          <a:xfrm>
            <a:off x="3447288" y="2057400"/>
            <a:ext cx="2249424" cy="18288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No perceptual gain on this budget: UTMOS </a:t>
            </a:r>
            <a:r>
              <a:rPr lang="en-US" sz="1200" b="1" dirty="0">
                <a:solidFill>
                  <a:schemeClr val="bg1"/>
                </a:solidFill>
              </a:rPr>
              <a:t>significantly lower</a:t>
            </a:r>
            <a:r>
              <a:rPr lang="en-US" sz="1200" dirty="0">
                <a:solidFill>
                  <a:schemeClr val="bg1"/>
                </a:solidFill>
              </a:rPr>
              <a:t> (p = 0.0125)</a:t>
            </a:r>
            <a:endParaRPr lang="en-US" sz="1400" dirty="0"/>
          </a:p>
          <a:p>
            <a:pPr marL="177800" indent="-177800">
              <a:spcAft>
                <a:spcPts val="600"/>
              </a:spcAft>
              <a:buSzPct val="100000"/>
              <a:buChar char="•"/>
            </a:pPr>
            <a:r>
              <a:rPr lang="en-US" sz="1200" dirty="0">
                <a:solidFill>
                  <a:schemeClr val="bg1"/>
                </a:solidFill>
              </a:rPr>
              <a:t>CER </a:t>
            </a:r>
            <a:r>
              <a:rPr lang="en-US" sz="1200" b="1" dirty="0">
                <a:solidFill>
                  <a:schemeClr val="bg1"/>
                </a:solidFill>
              </a:rPr>
              <a:t>statistically tied</a:t>
            </a:r>
            <a:r>
              <a:rPr lang="en-US" sz="1200" dirty="0">
                <a:solidFill>
                  <a:schemeClr val="bg1"/>
                </a:solidFill>
              </a:rPr>
              <a:t> (p = 0.3945)</a:t>
            </a:r>
            <a:endParaRPr lang="en-US" sz="1400" dirty="0"/>
          </a:p>
          <a:p>
            <a:pPr marL="177800" indent="-177800">
              <a:spcAft>
                <a:spcPts val="600"/>
              </a:spcAft>
              <a:buSzPct val="100000"/>
              <a:buChar char="•"/>
            </a:pPr>
            <a:r>
              <a:rPr lang="en-US" sz="1200" dirty="0">
                <a:solidFill>
                  <a:schemeClr val="bg1"/>
                </a:solidFill>
              </a:rPr>
              <a:t>Better alignment helps alignment, not naturalness</a:t>
            </a:r>
            <a:endParaRPr lang="en-US" sz="1400" dirty="0"/>
          </a:p>
        </p:txBody>
      </p:sp>
      <p:sp>
        <p:nvSpPr>
          <p:cNvPr id="12" name="card-182"/>
          <p:cNvSpPr/>
          <p:nvPr/>
        </p:nvSpPr>
        <p:spPr>
          <a:xfrm>
            <a:off x="6071616" y="1463040"/>
            <a:ext cx="2615184" cy="2560320"/>
          </a:xfrm>
          <a:prstGeom prst="roundRect">
            <a:avLst>
              <a:gd name="adj" fmla="val 2857"/>
            </a:avLst>
          </a:prstGeom>
          <a:solidFill>
            <a:schemeClr val="tx2"/>
          </a:solidFill>
          <a:ln/>
        </p:spPr>
      </p:sp>
      <p:sp>
        <p:nvSpPr>
          <p:cNvPr id="13" name="dot-183"/>
          <p:cNvSpPr/>
          <p:nvPr/>
        </p:nvSpPr>
        <p:spPr>
          <a:xfrm>
            <a:off x="6254496" y="1664208"/>
            <a:ext cx="201168" cy="201168"/>
          </a:xfrm>
          <a:prstGeom prst="ellipse">
            <a:avLst/>
          </a:prstGeom>
          <a:solidFill>
            <a:schemeClr val="accent2"/>
          </a:solidFill>
          <a:ln/>
        </p:spPr>
      </p:sp>
      <p:sp>
        <p:nvSpPr>
          <p:cNvPr id="14" name="col-head-184"/>
          <p:cNvSpPr txBox="1"/>
          <p:nvPr/>
        </p:nvSpPr>
        <p:spPr>
          <a:xfrm>
            <a:off x="6547104" y="1600200"/>
            <a:ext cx="1975104" cy="329184"/>
          </a:xfrm>
          <a:prstGeom prst="rect">
            <a:avLst/>
          </a:prstGeom>
          <a:noFill/>
          <a:ln/>
        </p:spPr>
        <p:txBody>
          <a:bodyPr wrap="square" lIns="0" tIns="0" rIns="0" bIns="0" rtlCol="0" anchor="ctr"/>
          <a:lstStyle/>
          <a:p>
            <a:pPr indent="0" marL="0">
              <a:buNone/>
            </a:pPr>
            <a:r>
              <a:rPr lang="en-US" sz="1600" b="1" dirty="0">
                <a:solidFill>
                  <a:schemeClr val="bg1"/>
                </a:solidFill>
              </a:rPr>
              <a:t>Why numbers differ</a:t>
            </a:r>
            <a:endParaRPr lang="en-US" sz="1600" dirty="0"/>
          </a:p>
        </p:txBody>
      </p:sp>
      <p:sp>
        <p:nvSpPr>
          <p:cNvPr id="15" name="col-body-185"/>
          <p:cNvSpPr txBox="1"/>
          <p:nvPr/>
        </p:nvSpPr>
        <p:spPr>
          <a:xfrm>
            <a:off x="6254496" y="2057400"/>
            <a:ext cx="2249424" cy="18288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MOS ≈ UTMOS, not 10 human raters</a:t>
            </a:r>
            <a:endParaRPr lang="en-US" sz="1400" dirty="0"/>
          </a:p>
          <a:p>
            <a:pPr marL="177800" indent="-177800">
              <a:spcAft>
                <a:spcPts val="600"/>
              </a:spcAft>
              <a:buSzPct val="100000"/>
              <a:buChar char="•"/>
            </a:pPr>
            <a:r>
              <a:rPr lang="en-US" sz="1200" dirty="0">
                <a:solidFill>
                  <a:schemeClr val="bg1"/>
                </a:solidFill>
              </a:rPr>
              <a:t>A different 200-sentence subset</a:t>
            </a:r>
            <a:endParaRPr lang="en-US" sz="1400" dirty="0"/>
          </a:p>
          <a:p>
            <a:pPr marL="177800" indent="-177800">
              <a:spcAft>
                <a:spcPts val="600"/>
              </a:spcAft>
              <a:buSzPct val="100000"/>
              <a:buChar char="•"/>
            </a:pPr>
            <a:r>
              <a:rPr lang="en-US" sz="1200" dirty="0">
                <a:solidFill>
                  <a:schemeClr val="bg1"/>
                </a:solidFill>
              </a:rPr>
              <a:t>Griffin-Lim caps quality (GT + GL: 3.01)</a:t>
            </a:r>
            <a:endParaRPr lang="en-US" sz="1400" dirty="0"/>
          </a:p>
          <a:p>
            <a:pPr marL="177800" indent="-177800">
              <a:spcAft>
                <a:spcPts val="600"/>
              </a:spcAft>
              <a:buSzPct val="100000"/>
              <a:buChar char="•"/>
            </a:pPr>
            <a:r>
              <a:rPr lang="en-US" sz="1200" dirty="0">
                <a:solidFill>
                  <a:schemeClr val="bg1"/>
                </a:solidFill>
              </a:rPr>
              <a:t>Models shrunk and time-boxed on CPU</a:t>
            </a:r>
            <a:endParaRPr lang="en-US" sz="1400" dirty="0"/>
          </a:p>
        </p:txBody>
      </p:sp>
      <p:sp>
        <p:nvSpPr>
          <p:cNvPr id="16" name="future-186"/>
          <p:cNvSpPr txBox="1"/>
          <p:nvPr/>
        </p:nvSpPr>
        <p:spPr>
          <a:xfrm>
            <a:off x="457200" y="4224528"/>
            <a:ext cx="8229600" cy="365760"/>
          </a:xfrm>
          <a:prstGeom prst="rect">
            <a:avLst/>
          </a:prstGeom>
          <a:noFill/>
          <a:ln/>
        </p:spPr>
        <p:txBody>
          <a:bodyPr wrap="square" lIns="0" tIns="0" rIns="0" bIns="0" rtlCol="0" anchor="ctr"/>
          <a:lstStyle/>
          <a:p>
            <a:pPr indent="0" marL="0">
              <a:buNone/>
            </a:pPr>
            <a:r>
              <a:rPr lang="en-US" sz="1400" b="1" dirty="0">
                <a:solidFill>
                  <a:schemeClr val="accent2"/>
                </a:solidFill>
              </a:rPr>
              <a:t>Future work:  </a:t>
            </a:r>
            <a:r>
              <a:rPr lang="en-US" sz="1400" dirty="0">
                <a:solidFill>
                  <a:schemeClr val="bg1"/>
                </a:solidFill>
              </a:rPr>
              <a:t>more training data  ·  a neural vocoder (HiFi-GAN)  ·  full-size models on GPU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closing-spectrogram" descr="Ground-truth spectrogram strip">    </p:cNvPr>
          <p:cNvPicPr>
            <a:picLocks noChangeAspect="1"/>
          </p:cNvPicPr>
          <p:nvPr/>
        </p:nvPicPr>
        <p:blipFill>
          <a:blip r:embed="rId1">
            <a:alphaModFix amt="55000"/>
          </a:blip>
          <a:stretch>
            <a:fillRect/>
          </a:stretch>
        </p:blipFill>
        <p:spPr>
          <a:xfrm>
            <a:off x="0" y="4160520"/>
            <a:ext cx="9144000" cy="982980"/>
          </a:xfrm>
          <a:prstGeom prst="rect">
            <a:avLst/>
          </a:prstGeom>
        </p:spPr>
      </p:pic>
      <p:sp>
        <p:nvSpPr>
          <p:cNvPr id="3" name="closing-title-187"/>
          <p:cNvSpPr txBox="1"/>
          <p:nvPr/>
        </p:nvSpPr>
        <p:spPr>
          <a:xfrm>
            <a:off x="457200" y="411480"/>
            <a:ext cx="8229600" cy="6858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Thank you — questions?</a:t>
            </a:r>
            <a:endParaRPr lang="en-US" sz="3600" dirty="0"/>
          </a:p>
        </p:txBody>
      </p:sp>
      <p:sp>
        <p:nvSpPr>
          <p:cNvPr id="4" name="label-188"/>
          <p:cNvSpPr txBox="1"/>
          <p:nvPr/>
        </p:nvSpPr>
        <p:spPr>
          <a:xfrm>
            <a:off x="457200" y="1325880"/>
            <a:ext cx="393192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LIVE DEMO</a:t>
            </a:r>
            <a:endParaRPr lang="en-US" sz="1100" dirty="0"/>
          </a:p>
        </p:txBody>
      </p:sp>
      <p:sp>
        <p:nvSpPr>
          <p:cNvPr id="5" name="card-189"/>
          <p:cNvSpPr/>
          <p:nvPr/>
        </p:nvSpPr>
        <p:spPr>
          <a:xfrm>
            <a:off x="457200" y="1627632"/>
            <a:ext cx="4023360" cy="502920"/>
          </a:xfrm>
          <a:prstGeom prst="roundRect">
            <a:avLst>
              <a:gd name="adj" fmla="val 14545"/>
            </a:avLst>
          </a:prstGeom>
          <a:solidFill>
            <a:schemeClr val="tx2"/>
          </a:solidFill>
          <a:ln/>
        </p:spPr>
      </p:sp>
      <p:sp>
        <p:nvSpPr>
          <p:cNvPr id="6" name="cmd-190"/>
          <p:cNvSpPr txBox="1"/>
          <p:nvPr/>
        </p:nvSpPr>
        <p:spPr>
          <a:xfrm>
            <a:off x="594360" y="1627632"/>
            <a:ext cx="3840480" cy="50292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python main.py --demo "..."</a:t>
            </a:r>
            <a:endParaRPr lang="en-US" sz="1400" dirty="0"/>
          </a:p>
        </p:txBody>
      </p:sp>
      <p:sp>
        <p:nvSpPr>
          <p:cNvPr id="7" name="cmd-note-191"/>
          <p:cNvSpPr txBox="1"/>
          <p:nvPr/>
        </p:nvSpPr>
        <p:spPr>
          <a:xfrm>
            <a:off x="457200" y="2194560"/>
            <a:ext cx="4023360" cy="274320"/>
          </a:xfrm>
          <a:prstGeom prst="rect">
            <a:avLst/>
          </a:prstGeom>
          <a:noFill/>
          <a:ln/>
        </p:spPr>
        <p:txBody>
          <a:bodyPr wrap="square" lIns="0" tIns="0" rIns="0" bIns="0" rtlCol="0" anchor="t"/>
          <a:lstStyle/>
          <a:p>
            <a:pPr indent="0" marL="0">
              <a:buNone/>
            </a:pPr>
            <a:r>
              <a:rPr lang="en-US" sz="1200" dirty="0">
                <a:solidFill>
                  <a:schemeClr val="bg2"/>
                </a:solidFill>
              </a:rPr>
              <a:t>Synthesises one sentence with all 4 models in under 60 s on CPU</a:t>
            </a:r>
            <a:endParaRPr lang="en-US" sz="1200" dirty="0"/>
          </a:p>
        </p:txBody>
      </p:sp>
      <p:sp>
        <p:nvSpPr>
          <p:cNvPr id="8" name="card-192"/>
          <p:cNvSpPr/>
          <p:nvPr/>
        </p:nvSpPr>
        <p:spPr>
          <a:xfrm>
            <a:off x="457200" y="2606040"/>
            <a:ext cx="4023360" cy="502920"/>
          </a:xfrm>
          <a:prstGeom prst="roundRect">
            <a:avLst>
              <a:gd name="adj" fmla="val 14545"/>
            </a:avLst>
          </a:prstGeom>
          <a:solidFill>
            <a:schemeClr val="tx2"/>
          </a:solidFill>
          <a:ln/>
        </p:spPr>
      </p:sp>
      <p:sp>
        <p:nvSpPr>
          <p:cNvPr id="9" name="cmd-193"/>
          <p:cNvSpPr txBox="1"/>
          <p:nvPr/>
        </p:nvSpPr>
        <p:spPr>
          <a:xfrm>
            <a:off x="594360" y="2606040"/>
            <a:ext cx="3840480" cy="50292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python main.py --all</a:t>
            </a:r>
            <a:endParaRPr lang="en-US" sz="1400" dirty="0"/>
          </a:p>
        </p:txBody>
      </p:sp>
      <p:sp>
        <p:nvSpPr>
          <p:cNvPr id="10" name="cmd-note-194"/>
          <p:cNvSpPr txBox="1"/>
          <p:nvPr/>
        </p:nvSpPr>
        <p:spPr>
          <a:xfrm>
            <a:off x="457200" y="3172968"/>
            <a:ext cx="4023360" cy="274320"/>
          </a:xfrm>
          <a:prstGeom prst="rect">
            <a:avLst/>
          </a:prstGeom>
          <a:noFill/>
          <a:ln/>
        </p:spPr>
        <p:txBody>
          <a:bodyPr wrap="square" lIns="0" tIns="0" rIns="0" bIns="0" rtlCol="0" anchor="t"/>
          <a:lstStyle/>
          <a:p>
            <a:pPr indent="0" marL="0">
              <a:buNone/>
            </a:pPr>
            <a:r>
              <a:rPr lang="en-US" sz="1200" dirty="0">
                <a:solidFill>
                  <a:schemeClr val="bg2"/>
                </a:solidFill>
              </a:rPr>
              <a:t>Full pipeline: data → train → synth → eval → tables → figures</a:t>
            </a:r>
            <a:endParaRPr lang="en-US" sz="1200" dirty="0"/>
          </a:p>
        </p:txBody>
      </p:sp>
      <p:sp>
        <p:nvSpPr>
          <p:cNvPr id="11" name="label-195"/>
          <p:cNvSpPr txBox="1"/>
          <p:nvPr/>
        </p:nvSpPr>
        <p:spPr>
          <a:xfrm>
            <a:off x="4937760" y="1325880"/>
            <a:ext cx="374904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REPOSITORY</a:t>
            </a:r>
            <a:endParaRPr lang="en-US" sz="1100" dirty="0"/>
          </a:p>
        </p:txBody>
      </p:sp>
      <p:sp>
        <p:nvSpPr>
          <p:cNvPr id="12" name="repo-row-196"/>
          <p:cNvSpPr txBox="1"/>
          <p:nvPr/>
        </p:nvSpPr>
        <p:spPr>
          <a:xfrm>
            <a:off x="4937760" y="1627632"/>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src/</a:t>
            </a:r>
            <a:r>
              <a:rPr lang="en-US" sz="1200" dirty="0">
                <a:solidFill>
                  <a:schemeClr val="bg1"/>
                </a:solidFill>
              </a:rPr>
              <a:t>  audio, text, dataset, models, evaluation</a:t>
            </a:r>
            <a:endParaRPr lang="en-US" sz="1200" dirty="0"/>
          </a:p>
        </p:txBody>
      </p:sp>
      <p:sp>
        <p:nvSpPr>
          <p:cNvPr id="13" name="repo-row-197"/>
          <p:cNvSpPr txBox="1"/>
          <p:nvPr/>
        </p:nvSpPr>
        <p:spPr>
          <a:xfrm>
            <a:off x="4937760" y="1965960"/>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data/splits/</a:t>
            </a:r>
            <a:r>
              <a:rPr lang="en-US" sz="1200" dirty="0">
                <a:solidFill>
                  <a:schemeClr val="bg1"/>
                </a:solidFill>
              </a:rPr>
              <a:t>  fixed 200/25/25 lists</a:t>
            </a:r>
            <a:endParaRPr lang="en-US" sz="1200" dirty="0"/>
          </a:p>
        </p:txBody>
      </p:sp>
      <p:sp>
        <p:nvSpPr>
          <p:cNvPr id="14" name="repo-row-198"/>
          <p:cNvSpPr txBox="1"/>
          <p:nvPr/>
        </p:nvSpPr>
        <p:spPr>
          <a:xfrm>
            <a:off x="4937760" y="2304288"/>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results/</a:t>
            </a:r>
            <a:r>
              <a:rPr lang="en-US" sz="1200" dirty="0">
                <a:solidFill>
                  <a:schemeClr val="bg1"/>
                </a:solidFill>
              </a:rPr>
              <a:t>  metrics, tables, audio, figures</a:t>
            </a:r>
            <a:endParaRPr lang="en-US" sz="1200" dirty="0"/>
          </a:p>
        </p:txBody>
      </p:sp>
      <p:sp>
        <p:nvSpPr>
          <p:cNvPr id="15" name="repo-row-199"/>
          <p:cNvSpPr txBox="1"/>
          <p:nvPr/>
        </p:nvSpPr>
        <p:spPr>
          <a:xfrm>
            <a:off x="4937760" y="2642616"/>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docs/</a:t>
            </a:r>
            <a:r>
              <a:rPr lang="en-US" sz="1200" dirty="0">
                <a:solidFill>
                  <a:schemeClr val="bg1"/>
                </a:solidFill>
              </a:rPr>
              <a:t>  paper spec, write-up, slides</a:t>
            </a:r>
            <a:endParaRPr lang="en-US" sz="1200" dirty="0"/>
          </a:p>
        </p:txBody>
      </p:sp>
      <p:sp>
        <p:nvSpPr>
          <p:cNvPr id="16" name="repo-row-200"/>
          <p:cNvSpPr txBox="1"/>
          <p:nvPr/>
        </p:nvSpPr>
        <p:spPr>
          <a:xfrm>
            <a:off x="4937760" y="2980944"/>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reference/</a:t>
            </a:r>
            <a:r>
              <a:rPr lang="en-US" sz="1200" dirty="0">
                <a:solidFill>
                  <a:schemeClr val="bg1"/>
                </a:solidFill>
              </a:rPr>
              <a:t>  paper PDFs + authors’ code</a:t>
            </a:r>
            <a:endParaRPr lang="en-US" sz="1200" dirty="0"/>
          </a:p>
        </p:txBody>
      </p:sp>
      <p:sp>
        <p:nvSpPr>
          <p:cNvPr id="17" name="repo-row-201"/>
          <p:cNvSpPr txBox="1"/>
          <p:nvPr/>
        </p:nvSpPr>
        <p:spPr>
          <a:xfrm>
            <a:off x="4937760" y="3319272"/>
            <a:ext cx="3749040" cy="292608"/>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checkpoints/</a:t>
            </a:r>
            <a:r>
              <a:rPr lang="en-US" sz="1200" dirty="0">
                <a:solidFill>
                  <a:schemeClr val="bg1"/>
                </a:solidFill>
              </a:rPr>
              <a:t>  weights for --demo</a:t>
            </a:r>
            <a:endParaRPr lang="en-US" sz="1200" dirty="0"/>
          </a:p>
        </p:txBody>
      </p:sp>
      <p:sp>
        <p:nvSpPr>
          <p:cNvPr id="18" name="team-202"/>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200" b="1" dirty="0">
                <a:solidFill>
                  <a:schemeClr val="bg1"/>
                </a:solidFill>
              </a:rPr>
              <a:t>Team 23  ·  Shriram Chandrasekar (PES2UG24CS495)  ·  Shreyash Yadwad (PES2UG24CS493)</a:t>
            </a:r>
            <a:endParaRPr lang="en-US" sz="1200" dirty="0"/>
          </a:p>
        </p:txBody>
      </p:sp>
      <p:sp>
        <p:nvSpPr>
          <p:cNvPr id="20"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theme/theme1.xml><?xml version="1.0" encoding="utf-8"?>
<a:theme xmlns:a="http://schemas.openxmlformats.org/drawingml/2006/main" name="Colatron Magma">
  <a:themeElements>
    <a:clrScheme name="Colatron Magma">
      <a:dk1>
        <a:srgbClr val="1A1033"/>
      </a:dk1>
      <a:lt1>
        <a:srgbClr val="FFFFFF"/>
      </a:lt1>
      <a:dk2>
        <a:srgbClr val="3D2466"/>
      </a:dk2>
      <a:lt2>
        <a:srgbClr val="F4F1F8"/>
      </a:lt2>
      <a:accent1>
        <a:srgbClr val="E8574A"/>
      </a:accent1>
      <a:accent2>
        <a:srgbClr val="F2A65A"/>
      </a:accent2>
      <a:accent3>
        <a:srgbClr val="7A4FA8"/>
      </a:accent3>
      <a:accent4>
        <a:srgbClr val="2A9D8F"/>
      </a:accent4>
      <a:accent5>
        <a:srgbClr val="6B6478"/>
      </a:accent5>
      <a:accent6>
        <a:srgbClr val="B5366B"/>
      </a:accent6>
      <a:hlink>
        <a:srgbClr val="7A4FA8"/>
      </a:hlink>
      <a:folHlink>
        <a:srgbClr val="B5366B"/>
      </a:folHlink>
    </a:clrScheme>
    <a:fontScheme name="Colatron Mag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Colatron — Reproducing &amp; Extending End-to-End TTS</dc:title>
  <dc:subject>UE24CS352A Machine Learning — Mini-Project #20, Team 23</dc:subject>
  <dc:creator>Shriram Chandrasekar, Shreyash Yadwad</dc:creator>
  <cp:lastModifiedBy>Shriram Chandrasekar, Shreyash Yadwad</cp:lastModifiedBy>
  <cp:revision>1</cp:revision>
  <dcterms:created xsi:type="dcterms:W3CDTF">2026-10-11T12:02:59Z</dcterms:created>
  <dcterms:modified xsi:type="dcterms:W3CDTF">2026-10-11T12:02:59Z</dcterms:modified>
</cp:coreProperties>
</file>